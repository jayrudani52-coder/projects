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gerian" panose="04020705040A02060702" pitchFamily="82" charset="0"/>
      <p:regular r:id="rId10"/>
    </p:embeddedFont>
    <p:embeddedFont>
      <p:font typeface="Aparajita" panose="02020603050405020304" pitchFamily="18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3741" autoAdjust="0"/>
  </p:normalViewPr>
  <p:slideViewPr>
    <p:cSldViewPr>
      <p:cViewPr varScale="1">
        <p:scale>
          <a:sx n="44" d="100"/>
          <a:sy n="44" d="100"/>
        </p:scale>
        <p:origin x="660" y="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66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59" b="-925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524000" y="290265"/>
            <a:ext cx="14935200" cy="2538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517"/>
              </a:lnSpc>
            </a:pPr>
            <a:r>
              <a:rPr lang="en-US" sz="9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FITNESS TRACKER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71800" y="3238500"/>
            <a:ext cx="11679593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8"/>
              </a:lnSpc>
            </a:pPr>
            <a:r>
              <a:rPr lang="en-US" sz="3200" spc="51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“MEASURE BETTER MOVE SMARTER.”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4D9E4F03-845F-C481-1AED-F448C1A2AFD4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3FAA9D0D-E328-6431-38D9-0414DDA067D6}"/>
              </a:ext>
            </a:extLst>
          </p:cNvPr>
          <p:cNvSpPr/>
          <p:nvPr/>
        </p:nvSpPr>
        <p:spPr>
          <a:xfrm>
            <a:off x="228600" y="290265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00800" y="2037254"/>
            <a:ext cx="5316575" cy="1331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GROUP MEMBERS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11627" y="4658082"/>
            <a:ext cx="7737738" cy="2589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Name : Bhojani Nisarg </a:t>
            </a:r>
          </a:p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Roll No : 132</a:t>
            </a:r>
          </a:p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Enroll No : 24002171210017</a:t>
            </a:r>
          </a:p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Batch : B4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192000" y="4658081"/>
            <a:ext cx="6835836" cy="325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3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Name : </a:t>
            </a:r>
            <a:r>
              <a:rPr lang="en-US" sz="3000" dirty="0" err="1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Yograjsinh</a:t>
            </a: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Vaghela</a:t>
            </a:r>
          </a:p>
          <a:p>
            <a:pPr algn="l">
              <a:lnSpc>
                <a:spcPts val="5013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Roll No : 111</a:t>
            </a:r>
          </a:p>
          <a:p>
            <a:pPr algn="l">
              <a:lnSpc>
                <a:spcPts val="5013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Enroll No : 24002171210198</a:t>
            </a:r>
          </a:p>
          <a:p>
            <a:pPr algn="l">
              <a:lnSpc>
                <a:spcPts val="5013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Batch : B4</a:t>
            </a:r>
          </a:p>
          <a:p>
            <a:pPr algn="ctr">
              <a:lnSpc>
                <a:spcPts val="5013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400800" y="4658081"/>
            <a:ext cx="7467780" cy="325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Name : Jay </a:t>
            </a:r>
            <a:r>
              <a:rPr lang="en-US" sz="3000" dirty="0" err="1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Rudani</a:t>
            </a: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Roll No : 125</a:t>
            </a:r>
          </a:p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Enroll No : 24002171210157</a:t>
            </a:r>
          </a:p>
          <a:p>
            <a:pPr algn="l">
              <a:lnSpc>
                <a:spcPts val="5017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Batch : B4</a:t>
            </a:r>
          </a:p>
          <a:p>
            <a:pPr algn="ctr">
              <a:lnSpc>
                <a:spcPts val="5017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414976" y="8623315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D52989D-CB0D-3F19-3DC6-0690253242CA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DDD28711-82B4-3280-B4B8-513581A5668F}"/>
              </a:ext>
            </a:extLst>
          </p:cNvPr>
          <p:cNvSpPr/>
          <p:nvPr/>
        </p:nvSpPr>
        <p:spPr>
          <a:xfrm>
            <a:off x="228600" y="290265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E295DE52-40CA-C57F-C01E-3E2263C01DB0}"/>
              </a:ext>
            </a:extLst>
          </p:cNvPr>
          <p:cNvSpPr/>
          <p:nvPr/>
        </p:nvSpPr>
        <p:spPr>
          <a:xfrm>
            <a:off x="-1219200" y="2211047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31" b="-332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237736" y="1679480"/>
            <a:ext cx="4572000" cy="1337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3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81062" y="4288660"/>
            <a:ext cx="13657348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0160" lvl="2" indent="-685800">
              <a:lnSpc>
                <a:spcPts val="399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Web-based AI Fitness Tracker built using </a:t>
            </a:r>
            <a:r>
              <a:rPr lang="en-US" sz="3000" dirty="0" err="1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Streamlit</a:t>
            </a: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and SQLite.</a:t>
            </a:r>
          </a:p>
          <a:p>
            <a:pPr marL="434360" lvl="2">
              <a:lnSpc>
                <a:spcPts val="3990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1120160" lvl="2" indent="-685800">
              <a:lnSpc>
                <a:spcPts val="399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Allows users to track workouts, nutrition, weight, and progress.</a:t>
            </a:r>
          </a:p>
          <a:p>
            <a:pPr marL="434360" lvl="2">
              <a:lnSpc>
                <a:spcPts val="3990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1120160" lvl="2" indent="-685800">
              <a:lnSpc>
                <a:spcPts val="399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Provides AI-based personalized fitness advice.</a:t>
            </a:r>
          </a:p>
          <a:p>
            <a:pPr marL="434360" lvl="2">
              <a:lnSpc>
                <a:spcPts val="3990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1120160" lvl="2" indent="-685800">
              <a:lnSpc>
                <a:spcPts val="3990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Generates interactive reports and visual analytics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07BEE481-4051-E0BE-E830-750267E00866}"/>
              </a:ext>
            </a:extLst>
          </p:cNvPr>
          <p:cNvSpPr/>
          <p:nvPr/>
        </p:nvSpPr>
        <p:spPr>
          <a:xfrm>
            <a:off x="228600" y="290265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9D87D823-3A20-19F5-26E7-7777B0D690CA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3F06E37-347A-EC99-3841-2E709478BE98}"/>
              </a:ext>
            </a:extLst>
          </p:cNvPr>
          <p:cNvSpPr/>
          <p:nvPr/>
        </p:nvSpPr>
        <p:spPr>
          <a:xfrm>
            <a:off x="13748002" y="8652343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5528B512-DD83-9E56-2F26-317553DB610E}"/>
              </a:ext>
            </a:extLst>
          </p:cNvPr>
          <p:cNvSpPr/>
          <p:nvPr/>
        </p:nvSpPr>
        <p:spPr>
          <a:xfrm>
            <a:off x="-1891962" y="2348350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1400" y="1439658"/>
            <a:ext cx="10271046" cy="133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FUNCTIONALITIES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610715" y="3440824"/>
            <a:ext cx="15860801" cy="4789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User Registration &amp; Login</a:t>
            </a:r>
          </a:p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User Profile Management</a:t>
            </a:r>
          </a:p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BMI Calculation</a:t>
            </a:r>
          </a:p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Goal Selection</a:t>
            </a:r>
          </a:p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Personalized Diet Plans</a:t>
            </a:r>
          </a:p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Exercise Plans</a:t>
            </a:r>
          </a:p>
          <a:p>
            <a:pPr marL="1269551" lvl="2" indent="-685800" algn="just">
              <a:lnSpc>
                <a:spcPts val="5363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Activity Tracking</a:t>
            </a:r>
          </a:p>
        </p:txBody>
      </p:sp>
      <p:sp>
        <p:nvSpPr>
          <p:cNvPr id="6" name="Freeform 6"/>
          <p:cNvSpPr/>
          <p:nvPr/>
        </p:nvSpPr>
        <p:spPr>
          <a:xfrm>
            <a:off x="12513286" y="3287337"/>
            <a:ext cx="4572000" cy="4514508"/>
          </a:xfrm>
          <a:custGeom>
            <a:avLst/>
            <a:gdLst/>
            <a:ahLst/>
            <a:cxnLst/>
            <a:rect l="l" t="t" r="r" b="b"/>
            <a:pathLst>
              <a:path w="5564796" h="5178128">
                <a:moveTo>
                  <a:pt x="0" y="0"/>
                </a:moveTo>
                <a:lnTo>
                  <a:pt x="5564796" y="0"/>
                </a:lnTo>
                <a:lnTo>
                  <a:pt x="5564796" y="5178128"/>
                </a:lnTo>
                <a:lnTo>
                  <a:pt x="0" y="5178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450"/>
            </a:stretch>
          </a:blipFill>
        </p:spPr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E06A8DA3-70F3-B9A5-C383-2BA209A68683}"/>
              </a:ext>
            </a:extLst>
          </p:cNvPr>
          <p:cNvSpPr/>
          <p:nvPr/>
        </p:nvSpPr>
        <p:spPr>
          <a:xfrm>
            <a:off x="228600" y="290265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5EBBEDE-095E-5DCB-3807-D6CF39D8AA8B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FA59182-86F9-6B19-1BBC-C7CEE83996BB}"/>
              </a:ext>
            </a:extLst>
          </p:cNvPr>
          <p:cNvSpPr/>
          <p:nvPr/>
        </p:nvSpPr>
        <p:spPr>
          <a:xfrm>
            <a:off x="13677284" y="8602845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F86F31BB-53A2-FD95-3F62-37EA02C39D20}"/>
              </a:ext>
            </a:extLst>
          </p:cNvPr>
          <p:cNvSpPr/>
          <p:nvPr/>
        </p:nvSpPr>
        <p:spPr>
          <a:xfrm>
            <a:off x="-1262309" y="2108528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31" b="-33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86800" y="1603836"/>
            <a:ext cx="11540404" cy="10287000"/>
            <a:chOff x="0" y="0"/>
            <a:chExt cx="15387206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87193" cy="13716000"/>
            </a:xfrm>
            <a:custGeom>
              <a:avLst/>
              <a:gdLst/>
              <a:ahLst/>
              <a:cxnLst/>
              <a:rect l="l" t="t" r="r" b="b"/>
              <a:pathLst>
                <a:path w="15387193" h="13716000">
                  <a:moveTo>
                    <a:pt x="15387193" y="0"/>
                  </a:moveTo>
                  <a:lnTo>
                    <a:pt x="9850247" y="13716000"/>
                  </a:lnTo>
                  <a:lnTo>
                    <a:pt x="0" y="13716000"/>
                  </a:lnTo>
                  <a:lnTo>
                    <a:pt x="5472557" y="0"/>
                  </a:lnTo>
                  <a:lnTo>
                    <a:pt x="15387193" y="0"/>
                  </a:lnTo>
                  <a:close/>
                </a:path>
              </a:pathLst>
            </a:custGeom>
            <a:blipFill>
              <a:blip r:embed="rId2"/>
              <a:stretch>
                <a:fillRect l="-16755" r="-1675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350000" y="1582072"/>
            <a:ext cx="2362200" cy="13377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13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MERITS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08035" y="3686695"/>
            <a:ext cx="10408329" cy="3680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0896" lvl="2" indent="-457200" algn="just">
              <a:lnSpc>
                <a:spcPts val="4076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Secure authentication with password hashing and salt</a:t>
            </a:r>
          </a:p>
          <a:p>
            <a:pPr marL="443696" lvl="2" algn="just">
              <a:lnSpc>
                <a:spcPts val="4076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00896" lvl="2" indent="-457200" algn="just">
              <a:lnSpc>
                <a:spcPts val="4076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User-specific data privacy and session management</a:t>
            </a:r>
          </a:p>
          <a:p>
            <a:pPr marL="443696" lvl="2" algn="just">
              <a:lnSpc>
                <a:spcPts val="4076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00896" lvl="2" indent="-457200" algn="just">
              <a:lnSpc>
                <a:spcPts val="4076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Interactive charts and progress visualization</a:t>
            </a:r>
          </a:p>
          <a:p>
            <a:pPr marL="443696" lvl="2" algn="just">
              <a:lnSpc>
                <a:spcPts val="4076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00896" lvl="2" indent="-457200" algn="just">
              <a:lnSpc>
                <a:spcPts val="4076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AI-powered coaching support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B6A20135-A89A-A586-8825-336B0AB6604B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C36C4EF6-D012-D0AD-4DE1-88ACE2AAE407}"/>
              </a:ext>
            </a:extLst>
          </p:cNvPr>
          <p:cNvSpPr/>
          <p:nvPr/>
        </p:nvSpPr>
        <p:spPr>
          <a:xfrm>
            <a:off x="228600" y="424711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3F6C8A65-51B1-2CE1-4213-92573EBECD40}"/>
              </a:ext>
            </a:extLst>
          </p:cNvPr>
          <p:cNvSpPr/>
          <p:nvPr/>
        </p:nvSpPr>
        <p:spPr>
          <a:xfrm rot="16200000">
            <a:off x="-2121905" y="8484605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7B98010-8138-0359-2B3E-F7AC6AC452B0}"/>
              </a:ext>
            </a:extLst>
          </p:cNvPr>
          <p:cNvSpPr/>
          <p:nvPr/>
        </p:nvSpPr>
        <p:spPr>
          <a:xfrm rot="16200000">
            <a:off x="14629149" y="5125488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C61702AE-DEF9-2134-FD2D-5F65AC3C6572}"/>
              </a:ext>
            </a:extLst>
          </p:cNvPr>
          <p:cNvSpPr/>
          <p:nvPr/>
        </p:nvSpPr>
        <p:spPr>
          <a:xfrm rot="16200000">
            <a:off x="14629149" y="11076229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31" b="-332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1500786"/>
            <a:ext cx="10271046" cy="133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DEMERITS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893723-F8D4-57BC-8A92-AF2FD1CDC4E2}"/>
              </a:ext>
            </a:extLst>
          </p:cNvPr>
          <p:cNvSpPr txBox="1"/>
          <p:nvPr/>
        </p:nvSpPr>
        <p:spPr>
          <a:xfrm>
            <a:off x="3352800" y="3830915"/>
            <a:ext cx="15364691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94296" lvl="1" indent="-685800">
              <a:lnSpc>
                <a:spcPts val="3657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Uses SQLite, not suitable for large-scale deployment</a:t>
            </a:r>
          </a:p>
          <a:p>
            <a:pPr marL="308496" lvl="1">
              <a:lnSpc>
                <a:spcPts val="3657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94296" lvl="1" indent="-685800">
              <a:lnSpc>
                <a:spcPts val="3657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Uses </a:t>
            </a:r>
            <a:r>
              <a:rPr lang="en-US" sz="3000" dirty="0" err="1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Groq</a:t>
            </a: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AI for personalized advice with rule-based fallback</a:t>
            </a:r>
          </a:p>
          <a:p>
            <a:pPr marL="308496" lvl="1">
              <a:lnSpc>
                <a:spcPts val="3657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94296" lvl="1" indent="-685800">
              <a:lnSpc>
                <a:spcPts val="3657"/>
              </a:lnSpc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Runs locally, not cloud-hosted</a:t>
            </a:r>
          </a:p>
          <a:p>
            <a:pPr marL="308496" lvl="1">
              <a:lnSpc>
                <a:spcPts val="3657"/>
              </a:lnSpc>
            </a:pPr>
            <a:endParaRPr lang="en-US" sz="3000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94296" lvl="1" indent="-685800">
              <a:lnSpc>
                <a:spcPts val="3658"/>
              </a:lnSpc>
              <a:buFont typeface="Arial" panose="020B0604020202020204" pitchFamily="34" charset="0"/>
              <a:buChar char="•"/>
            </a:pPr>
            <a:r>
              <a:rPr lang="en-US" sz="3000" dirty="0" err="1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Streamlit</a:t>
            </a: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 apps are not suitable for search-engine-optimized </a:t>
            </a:r>
          </a:p>
          <a:p>
            <a:pPr marL="308496" lvl="1">
              <a:lnSpc>
                <a:spcPts val="3658"/>
              </a:lnSpc>
            </a:pPr>
            <a:r>
              <a:rPr lang="en-US" sz="3000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	websites.</a:t>
            </a:r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1CB32534-9F05-6541-E8AF-6CB35B0EAA9C}"/>
              </a:ext>
            </a:extLst>
          </p:cNvPr>
          <p:cNvSpPr/>
          <p:nvPr/>
        </p:nvSpPr>
        <p:spPr>
          <a:xfrm>
            <a:off x="228600" y="290265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80A25CD4-EE05-93F3-D165-4D6A798573CD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3E911F31-E0B2-9F97-4878-96660BAB2295}"/>
              </a:ext>
            </a:extLst>
          </p:cNvPr>
          <p:cNvSpPr/>
          <p:nvPr/>
        </p:nvSpPr>
        <p:spPr>
          <a:xfrm rot="5400000">
            <a:off x="14536881" y="9997358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E88982C-E1AE-3975-721B-55D5D215AE16}"/>
              </a:ext>
            </a:extLst>
          </p:cNvPr>
          <p:cNvSpPr/>
          <p:nvPr/>
        </p:nvSpPr>
        <p:spPr>
          <a:xfrm rot="5400000">
            <a:off x="14536881" y="4124334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9D3E202-8EE1-FB30-0541-64DBBF9E7F6D}"/>
              </a:ext>
            </a:extLst>
          </p:cNvPr>
          <p:cNvSpPr/>
          <p:nvPr/>
        </p:nvSpPr>
        <p:spPr>
          <a:xfrm rot="5400000">
            <a:off x="-2085810" y="7798805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3554" y="1679480"/>
            <a:ext cx="10271046" cy="133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13"/>
              </a:lnSpc>
            </a:pPr>
            <a:r>
              <a:rPr lang="en-US" sz="5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FUTURE SCOPE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981062" y="3977564"/>
            <a:ext cx="18288000" cy="4007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Growth in data science and AI applications.</a:t>
            </a: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u="none" strike="noStrike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Better performance optimization.</a:t>
            </a: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u="none" strike="noStrike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Growth in data science and AI applications.</a:t>
            </a: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u="none" strike="noStrike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Better performance optimization.</a:t>
            </a:r>
          </a:p>
          <a:p>
            <a:pPr marL="974261" lvl="1" indent="-685800" algn="l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000" u="none" strike="noStrike" dirty="0">
              <a:solidFill>
                <a:srgbClr val="FFFFFF"/>
              </a:solidFill>
              <a:latin typeface="Aparajita" panose="02020603050405020304" pitchFamily="18" charset="0"/>
              <a:ea typeface="Garet"/>
              <a:cs typeface="Aparajita" panose="02020603050405020304" pitchFamily="18" charset="0"/>
              <a:sym typeface="Garet"/>
            </a:endParaRPr>
          </a:p>
          <a:p>
            <a:pPr marL="974261" lvl="1" indent="-685800" algn="just">
              <a:lnSpc>
                <a:spcPts val="342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000" u="none" strike="noStrike" dirty="0">
                <a:solidFill>
                  <a:srgbClr val="FFFFFF"/>
                </a:solidFill>
                <a:latin typeface="Aparajita" panose="02020603050405020304" pitchFamily="18" charset="0"/>
                <a:ea typeface="Garet"/>
                <a:cs typeface="Aparajita" panose="02020603050405020304" pitchFamily="18" charset="0"/>
                <a:sym typeface="Garet"/>
              </a:rPr>
              <a:t>Integration with databases and APIs.          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238751A4-9372-532A-7D24-A9F3B2702A9F}"/>
              </a:ext>
            </a:extLst>
          </p:cNvPr>
          <p:cNvSpPr/>
          <p:nvPr/>
        </p:nvSpPr>
        <p:spPr>
          <a:xfrm>
            <a:off x="11945975" y="0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441268F2-3736-ECF9-E32F-0DC429E35627}"/>
              </a:ext>
            </a:extLst>
          </p:cNvPr>
          <p:cNvSpPr/>
          <p:nvPr/>
        </p:nvSpPr>
        <p:spPr>
          <a:xfrm>
            <a:off x="228600" y="290265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99A0911-227A-8580-F2F6-16B2414EE7F7}"/>
              </a:ext>
            </a:extLst>
          </p:cNvPr>
          <p:cNvSpPr/>
          <p:nvPr/>
        </p:nvSpPr>
        <p:spPr>
          <a:xfrm>
            <a:off x="-1891962" y="2348350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0F373A58-BED8-84B6-7E0F-FC75CA8D3F90}"/>
              </a:ext>
            </a:extLst>
          </p:cNvPr>
          <p:cNvSpPr/>
          <p:nvPr/>
        </p:nvSpPr>
        <p:spPr>
          <a:xfrm>
            <a:off x="13030200" y="8657786"/>
            <a:ext cx="5873024" cy="1629214"/>
          </a:xfrm>
          <a:custGeom>
            <a:avLst/>
            <a:gdLst/>
            <a:ahLst/>
            <a:cxnLst/>
            <a:rect l="l" t="t" r="r" b="b"/>
            <a:pathLst>
              <a:path w="7315200" h="2119532">
                <a:moveTo>
                  <a:pt x="0" y="0"/>
                </a:moveTo>
                <a:lnTo>
                  <a:pt x="7315200" y="0"/>
                </a:lnTo>
                <a:lnTo>
                  <a:pt x="7315200" y="2119532"/>
                </a:lnTo>
                <a:lnTo>
                  <a:pt x="0" y="21195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331" b="-332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2047" y="0"/>
            <a:ext cx="7915904" cy="10287000"/>
            <a:chOff x="0" y="0"/>
            <a:chExt cx="1055453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54589" cy="13716000"/>
            </a:xfrm>
            <a:custGeom>
              <a:avLst/>
              <a:gdLst/>
              <a:ahLst/>
              <a:cxnLst/>
              <a:rect l="l" t="t" r="r" b="b"/>
              <a:pathLst>
                <a:path w="10554589" h="13716000">
                  <a:moveTo>
                    <a:pt x="10554589" y="0"/>
                  </a:moveTo>
                  <a:lnTo>
                    <a:pt x="6756527" y="13716000"/>
                  </a:lnTo>
                  <a:lnTo>
                    <a:pt x="0" y="13716000"/>
                  </a:lnTo>
                  <a:lnTo>
                    <a:pt x="3753739" y="0"/>
                  </a:lnTo>
                  <a:lnTo>
                    <a:pt x="10554589" y="0"/>
                  </a:lnTo>
                  <a:close/>
                </a:path>
              </a:pathLst>
            </a:custGeom>
            <a:blipFill>
              <a:blip r:embed="rId2"/>
              <a:stretch>
                <a:fillRect l="-47464" r="-4746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3794143" y="0"/>
            <a:ext cx="7915904" cy="10287000"/>
            <a:chOff x="0" y="0"/>
            <a:chExt cx="10554538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554589" cy="13716000"/>
            </a:xfrm>
            <a:custGeom>
              <a:avLst/>
              <a:gdLst/>
              <a:ahLst/>
              <a:cxnLst/>
              <a:rect l="l" t="t" r="r" b="b"/>
              <a:pathLst>
                <a:path w="10554589" h="13716000">
                  <a:moveTo>
                    <a:pt x="10554589" y="0"/>
                  </a:moveTo>
                  <a:lnTo>
                    <a:pt x="6756527" y="13716000"/>
                  </a:lnTo>
                  <a:lnTo>
                    <a:pt x="0" y="13716000"/>
                  </a:lnTo>
                  <a:lnTo>
                    <a:pt x="3753739" y="0"/>
                  </a:lnTo>
                  <a:lnTo>
                    <a:pt x="10554589" y="0"/>
                  </a:lnTo>
                  <a:close/>
                </a:path>
              </a:pathLst>
            </a:custGeom>
            <a:blipFill>
              <a:blip r:embed="rId3"/>
              <a:stretch>
                <a:fillRect t="-7629" b="-762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581400" y="3314700"/>
            <a:ext cx="10409053" cy="253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17"/>
              </a:lnSpc>
            </a:pPr>
            <a:r>
              <a:rPr lang="en-US" sz="9000" dirty="0">
                <a:solidFill>
                  <a:srgbClr val="FFFFFF"/>
                </a:solidFill>
                <a:latin typeface="Algerian" panose="04020705040A02060702" pitchFamily="82" charset="0"/>
                <a:ea typeface="Oswald"/>
                <a:cs typeface="Oswald"/>
                <a:sym typeface="Oswald"/>
              </a:rPr>
              <a:t>THANK YOU</a:t>
            </a: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CCFAEBFF-8D94-34F0-9623-80AEF25AE9BF}"/>
              </a:ext>
            </a:extLst>
          </p:cNvPr>
          <p:cNvSpPr/>
          <p:nvPr/>
        </p:nvSpPr>
        <p:spPr>
          <a:xfrm>
            <a:off x="-609600" y="342900"/>
            <a:ext cx="1664454" cy="1746989"/>
          </a:xfrm>
          <a:custGeom>
            <a:avLst/>
            <a:gdLst/>
            <a:ahLst/>
            <a:cxnLst/>
            <a:rect l="l" t="t" r="r" b="b"/>
            <a:pathLst>
              <a:path w="1664454" h="1746989">
                <a:moveTo>
                  <a:pt x="0" y="0"/>
                </a:moveTo>
                <a:lnTo>
                  <a:pt x="1664454" y="0"/>
                </a:lnTo>
                <a:lnTo>
                  <a:pt x="1664454" y="1746989"/>
                </a:lnTo>
                <a:lnTo>
                  <a:pt x="0" y="1746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3995459-55EC-F70B-5036-92B3A059A988}"/>
              </a:ext>
            </a:extLst>
          </p:cNvPr>
          <p:cNvSpPr/>
          <p:nvPr/>
        </p:nvSpPr>
        <p:spPr>
          <a:xfrm>
            <a:off x="14401800" y="52634"/>
            <a:ext cx="6113425" cy="1163760"/>
          </a:xfrm>
          <a:custGeom>
            <a:avLst/>
            <a:gdLst/>
            <a:ahLst/>
            <a:cxnLst/>
            <a:rect l="l" t="t" r="r" b="b"/>
            <a:pathLst>
              <a:path w="6113425" h="1163760">
                <a:moveTo>
                  <a:pt x="0" y="0"/>
                </a:moveTo>
                <a:lnTo>
                  <a:pt x="6113425" y="0"/>
                </a:lnTo>
                <a:lnTo>
                  <a:pt x="6113425" y="1163760"/>
                </a:lnTo>
                <a:lnTo>
                  <a:pt x="0" y="1163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208</Words>
  <Application>Microsoft Office PowerPoint</Application>
  <PresentationFormat>Custom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Aparajita</vt:lpstr>
      <vt:lpstr>Arial</vt:lpstr>
      <vt:lpstr>Algerian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TRACKER.pptx</dc:title>
  <dc:creator>hp</dc:creator>
  <cp:lastModifiedBy>yograjsinhvaghela1456@gmail.com</cp:lastModifiedBy>
  <cp:revision>7</cp:revision>
  <dcterms:created xsi:type="dcterms:W3CDTF">2006-08-16T00:00:00Z</dcterms:created>
  <dcterms:modified xsi:type="dcterms:W3CDTF">2026-02-19T13:19:44Z</dcterms:modified>
  <dc:identifier>DAHA7r2s5Xs</dc:identifier>
</cp:coreProperties>
</file>