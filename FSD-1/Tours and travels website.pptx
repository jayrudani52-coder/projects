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3"/>
  </p:notesMasterIdLst>
  <p:handoutMasterIdLst>
    <p:handoutMasterId r:id="rId14"/>
  </p:handoutMasterIdLst>
  <p:sldIdLst>
    <p:sldId id="320" r:id="rId5"/>
    <p:sldId id="318" r:id="rId6"/>
    <p:sldId id="325" r:id="rId7"/>
    <p:sldId id="323" r:id="rId8"/>
    <p:sldId id="324" r:id="rId9"/>
    <p:sldId id="309" r:id="rId10"/>
    <p:sldId id="310" r:id="rId11"/>
    <p:sldId id="322"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405" autoAdjust="0"/>
  </p:normalViewPr>
  <p:slideViewPr>
    <p:cSldViewPr snapToGrid="0">
      <p:cViewPr varScale="1">
        <p:scale>
          <a:sx n="78" d="100"/>
          <a:sy n="78" d="100"/>
        </p:scale>
        <p:origin x="878" y="72"/>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2/18/2026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2/18/2026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C366290-4595-5745-A50F-D5EC13BAC604}" type="slidenum">
              <a:rPr lang="en-US" noProof="0" smtClean="0"/>
              <a:t>7</a:t>
            </a:fld>
            <a:endParaRPr lang="en-US" noProof="0"/>
          </a:p>
        </p:txBody>
      </p:sp>
    </p:spTree>
    <p:extLst>
      <p:ext uri="{BB962C8B-B14F-4D97-AF65-F5344CB8AC3E}">
        <p14:creationId xmlns:p14="http://schemas.microsoft.com/office/powerpoint/2010/main" val="10262817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C366290-4595-5745-A50F-D5EC13BAC604}" type="slidenum">
              <a:rPr lang="en-US" noProof="0" smtClean="0"/>
              <a:t>8</a:t>
            </a:fld>
            <a:endParaRPr lang="en-US" noProof="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14.xml"/><Relationship Id="rId6" Type="http://schemas.openxmlformats.org/officeDocument/2006/relationships/image" Target="../media/image9.jp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9F5B0-4258-39A4-E440-E7AFF5FFE566}"/>
              </a:ext>
            </a:extLst>
          </p:cNvPr>
          <p:cNvSpPr>
            <a:spLocks noGrp="1"/>
          </p:cNvSpPr>
          <p:nvPr>
            <p:ph type="title"/>
          </p:nvPr>
        </p:nvSpPr>
        <p:spPr>
          <a:xfrm>
            <a:off x="2349906" y="1521170"/>
            <a:ext cx="8276763" cy="1907830"/>
          </a:xfrm>
        </p:spPr>
        <p:txBody>
          <a:bodyPr/>
          <a:lstStyle/>
          <a:p>
            <a:r>
              <a:rPr lang="en-US" sz="6000" dirty="0">
                <a:solidFill>
                  <a:schemeClr val="bg2">
                    <a:lumMod val="25000"/>
                  </a:schemeClr>
                </a:solidFill>
                <a:latin typeface="Algerian" panose="04020705040A02060702" pitchFamily="82" charset="0"/>
              </a:rPr>
              <a:t>Tours and travels website</a:t>
            </a:r>
            <a:endParaRPr lang="en-IN" sz="6000" dirty="0">
              <a:solidFill>
                <a:schemeClr val="bg2">
                  <a:lumMod val="25000"/>
                </a:schemeClr>
              </a:solidFill>
              <a:latin typeface="Algerian" panose="04020705040A02060702" pitchFamily="82" charset="0"/>
            </a:endParaRPr>
          </a:p>
        </p:txBody>
      </p:sp>
      <p:sp>
        <p:nvSpPr>
          <p:cNvPr id="3" name="Text Placeholder 2">
            <a:extLst>
              <a:ext uri="{FF2B5EF4-FFF2-40B4-BE49-F238E27FC236}">
                <a16:creationId xmlns:a16="http://schemas.microsoft.com/office/drawing/2014/main" id="{536C81FB-C54D-88D1-C33F-4EEA6EEEAC0F}"/>
              </a:ext>
            </a:extLst>
          </p:cNvPr>
          <p:cNvSpPr>
            <a:spLocks noGrp="1"/>
          </p:cNvSpPr>
          <p:nvPr>
            <p:ph type="body" sz="quarter" idx="13"/>
          </p:nvPr>
        </p:nvSpPr>
        <p:spPr>
          <a:xfrm>
            <a:off x="3064664" y="4527383"/>
            <a:ext cx="6650603" cy="737419"/>
          </a:xfrm>
        </p:spPr>
        <p:txBody>
          <a:bodyPr>
            <a:noAutofit/>
          </a:bodyPr>
          <a:lstStyle/>
          <a:p>
            <a:r>
              <a:rPr lang="en-US" dirty="0">
                <a:latin typeface="Aparajita" panose="02020603050405020304" pitchFamily="18" charset="0"/>
                <a:cs typeface="Aparajita" panose="02020603050405020304" pitchFamily="18" charset="0"/>
              </a:rPr>
              <a:t>“ Explore the world And Travel with trust. </a:t>
            </a:r>
            <a:r>
              <a:rPr lang="en-IN" dirty="0">
                <a:latin typeface="Aparajita" panose="02020603050405020304" pitchFamily="18" charset="0"/>
                <a:cs typeface="Aparajita" panose="02020603050405020304" pitchFamily="18" charset="0"/>
              </a:rPr>
              <a:t>”</a:t>
            </a:r>
          </a:p>
        </p:txBody>
      </p:sp>
      <p:pic>
        <p:nvPicPr>
          <p:cNvPr id="4" name="Picture 3">
            <a:extLst>
              <a:ext uri="{FF2B5EF4-FFF2-40B4-BE49-F238E27FC236}">
                <a16:creationId xmlns:a16="http://schemas.microsoft.com/office/drawing/2014/main" id="{64F2307A-4241-F45C-B9BE-492DC1374D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791" y="110173"/>
            <a:ext cx="741512" cy="776377"/>
          </a:xfrm>
          <a:prstGeom prst="rect">
            <a:avLst/>
          </a:prstGeom>
        </p:spPr>
      </p:pic>
      <p:pic>
        <p:nvPicPr>
          <p:cNvPr id="6" name="Picture 5">
            <a:extLst>
              <a:ext uri="{FF2B5EF4-FFF2-40B4-BE49-F238E27FC236}">
                <a16:creationId xmlns:a16="http://schemas.microsoft.com/office/drawing/2014/main" id="{193BF5B4-43DC-5B1C-3691-7B381277E46A}"/>
              </a:ext>
            </a:extLst>
          </p:cNvPr>
          <p:cNvPicPr>
            <a:picLocks noChangeAspect="1"/>
          </p:cNvPicPr>
          <p:nvPr/>
        </p:nvPicPr>
        <p:blipFill>
          <a:blip r:embed="rId3"/>
          <a:stretch>
            <a:fillRect/>
          </a:stretch>
        </p:blipFill>
        <p:spPr>
          <a:xfrm>
            <a:off x="9494428" y="120739"/>
            <a:ext cx="2524125" cy="485775"/>
          </a:xfrm>
          <a:prstGeom prst="rect">
            <a:avLst/>
          </a:prstGeom>
        </p:spPr>
      </p:pic>
    </p:spTree>
    <p:extLst>
      <p:ext uri="{BB962C8B-B14F-4D97-AF65-F5344CB8AC3E}">
        <p14:creationId xmlns:p14="http://schemas.microsoft.com/office/powerpoint/2010/main" val="1606965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4BF05-93F2-F443-581D-F8D46DB89ECD}"/>
              </a:ext>
            </a:extLst>
          </p:cNvPr>
          <p:cNvSpPr>
            <a:spLocks noGrp="1"/>
          </p:cNvSpPr>
          <p:nvPr>
            <p:ph type="title"/>
          </p:nvPr>
        </p:nvSpPr>
        <p:spPr>
          <a:xfrm>
            <a:off x="1732001" y="344129"/>
            <a:ext cx="8727997" cy="786581"/>
          </a:xfrm>
        </p:spPr>
        <p:txBody>
          <a:bodyPr/>
          <a:lstStyle/>
          <a:p>
            <a:r>
              <a:rPr lang="en-IN" sz="4000" dirty="0">
                <a:solidFill>
                  <a:schemeClr val="bg2">
                    <a:lumMod val="25000"/>
                  </a:schemeClr>
                </a:solidFill>
                <a:latin typeface="Algerian" panose="04020705040A02060702" pitchFamily="82" charset="0"/>
              </a:rPr>
              <a:t>TEAM MEMBERS</a:t>
            </a:r>
          </a:p>
        </p:txBody>
      </p:sp>
      <p:sp>
        <p:nvSpPr>
          <p:cNvPr id="3" name="Text Placeholder 2">
            <a:extLst>
              <a:ext uri="{FF2B5EF4-FFF2-40B4-BE49-F238E27FC236}">
                <a16:creationId xmlns:a16="http://schemas.microsoft.com/office/drawing/2014/main" id="{A206690A-2814-CA79-8B5D-4B2A9C835550}"/>
              </a:ext>
            </a:extLst>
          </p:cNvPr>
          <p:cNvSpPr>
            <a:spLocks noGrp="1"/>
          </p:cNvSpPr>
          <p:nvPr>
            <p:ph type="body" sz="quarter" idx="13"/>
          </p:nvPr>
        </p:nvSpPr>
        <p:spPr>
          <a:xfrm>
            <a:off x="2881612" y="1680125"/>
            <a:ext cx="3656839" cy="1138083"/>
          </a:xfrm>
        </p:spPr>
        <p:txBody>
          <a:bodyPr>
            <a:noAutofit/>
          </a:bodyPr>
          <a:lstStyle/>
          <a:p>
            <a:pPr algn="l"/>
            <a:r>
              <a:rPr lang="en-IN" sz="2000" dirty="0">
                <a:latin typeface="Aparajita" panose="02020603050405020304" pitchFamily="18" charset="0"/>
                <a:cs typeface="Aparajita" panose="02020603050405020304" pitchFamily="18" charset="0"/>
              </a:rPr>
              <a:t>NAME                       : RUDANI JAY ENROLLMENT NO : 24002171210157</a:t>
            </a:r>
          </a:p>
          <a:p>
            <a:pPr algn="l"/>
            <a:r>
              <a:rPr lang="en-IN" sz="2000" dirty="0">
                <a:latin typeface="Aparajita" panose="02020603050405020304" pitchFamily="18" charset="0"/>
                <a:cs typeface="Aparajita" panose="02020603050405020304" pitchFamily="18" charset="0"/>
              </a:rPr>
              <a:t>BATCH                     : B4</a:t>
            </a:r>
          </a:p>
          <a:p>
            <a:pPr algn="l"/>
            <a:r>
              <a:rPr lang="en-IN" sz="2000" dirty="0">
                <a:latin typeface="Aparajita" panose="02020603050405020304" pitchFamily="18" charset="0"/>
                <a:cs typeface="Aparajita" panose="02020603050405020304" pitchFamily="18" charset="0"/>
              </a:rPr>
              <a:t>BRANCH                  : CSE</a:t>
            </a:r>
          </a:p>
        </p:txBody>
      </p:sp>
      <p:pic>
        <p:nvPicPr>
          <p:cNvPr id="4" name="Picture 3">
            <a:extLst>
              <a:ext uri="{FF2B5EF4-FFF2-40B4-BE49-F238E27FC236}">
                <a16:creationId xmlns:a16="http://schemas.microsoft.com/office/drawing/2014/main" id="{58ECCBDD-BC40-06ED-3204-26C5DCA64E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791" y="110173"/>
            <a:ext cx="741512" cy="776377"/>
          </a:xfrm>
          <a:prstGeom prst="rect">
            <a:avLst/>
          </a:prstGeom>
        </p:spPr>
      </p:pic>
      <p:pic>
        <p:nvPicPr>
          <p:cNvPr id="5" name="Picture 4">
            <a:extLst>
              <a:ext uri="{FF2B5EF4-FFF2-40B4-BE49-F238E27FC236}">
                <a16:creationId xmlns:a16="http://schemas.microsoft.com/office/drawing/2014/main" id="{8A98C027-EB72-A19C-6425-60237C29A7C7}"/>
              </a:ext>
            </a:extLst>
          </p:cNvPr>
          <p:cNvPicPr>
            <a:picLocks noChangeAspect="1"/>
          </p:cNvPicPr>
          <p:nvPr/>
        </p:nvPicPr>
        <p:blipFill>
          <a:blip r:embed="rId3"/>
          <a:stretch>
            <a:fillRect/>
          </a:stretch>
        </p:blipFill>
        <p:spPr>
          <a:xfrm>
            <a:off x="9494428" y="120739"/>
            <a:ext cx="2524125" cy="485775"/>
          </a:xfrm>
          <a:prstGeom prst="rect">
            <a:avLst/>
          </a:prstGeom>
        </p:spPr>
      </p:pic>
      <p:sp>
        <p:nvSpPr>
          <p:cNvPr id="19" name="TextBox 18">
            <a:extLst>
              <a:ext uri="{FF2B5EF4-FFF2-40B4-BE49-F238E27FC236}">
                <a16:creationId xmlns:a16="http://schemas.microsoft.com/office/drawing/2014/main" id="{A67EBC67-F83E-3CF5-5908-B2D4E2E606C0}"/>
              </a:ext>
            </a:extLst>
          </p:cNvPr>
          <p:cNvSpPr txBox="1"/>
          <p:nvPr/>
        </p:nvSpPr>
        <p:spPr>
          <a:xfrm>
            <a:off x="5922553" y="3261388"/>
            <a:ext cx="6096000" cy="1323439"/>
          </a:xfrm>
          <a:prstGeom prst="rect">
            <a:avLst/>
          </a:prstGeom>
          <a:noFill/>
        </p:spPr>
        <p:txBody>
          <a:bodyPr wrap="square">
            <a:spAutoFit/>
          </a:bodyPr>
          <a:lstStyle/>
          <a:p>
            <a:pPr algn="l"/>
            <a:r>
              <a:rPr lang="en-IN" sz="2000" dirty="0">
                <a:latin typeface="Aparajita" panose="02020603050405020304" pitchFamily="18" charset="0"/>
                <a:cs typeface="Aparajita" panose="02020603050405020304" pitchFamily="18" charset="0"/>
              </a:rPr>
              <a:t>NAME                       : BHOJANI NISARG</a:t>
            </a:r>
          </a:p>
          <a:p>
            <a:pPr algn="l"/>
            <a:r>
              <a:rPr lang="en-IN" sz="2000" dirty="0">
                <a:latin typeface="Aparajita" panose="02020603050405020304" pitchFamily="18" charset="0"/>
                <a:cs typeface="Aparajita" panose="02020603050405020304" pitchFamily="18" charset="0"/>
              </a:rPr>
              <a:t>ENROLLMENT NO : 24002171210017</a:t>
            </a:r>
          </a:p>
          <a:p>
            <a:pPr algn="l"/>
            <a:r>
              <a:rPr lang="en-IN" sz="2000" dirty="0">
                <a:latin typeface="Aparajita" panose="02020603050405020304" pitchFamily="18" charset="0"/>
                <a:cs typeface="Aparajita" panose="02020603050405020304" pitchFamily="18" charset="0"/>
              </a:rPr>
              <a:t>BATCH                     : B4</a:t>
            </a:r>
          </a:p>
          <a:p>
            <a:pPr algn="l"/>
            <a:r>
              <a:rPr lang="en-IN" sz="2000" dirty="0">
                <a:latin typeface="Aparajita" panose="02020603050405020304" pitchFamily="18" charset="0"/>
                <a:cs typeface="Aparajita" panose="02020603050405020304" pitchFamily="18" charset="0"/>
              </a:rPr>
              <a:t>BRANCH                  : CSE</a:t>
            </a:r>
          </a:p>
        </p:txBody>
      </p:sp>
      <p:sp>
        <p:nvSpPr>
          <p:cNvPr id="24" name="TextBox 23">
            <a:extLst>
              <a:ext uri="{FF2B5EF4-FFF2-40B4-BE49-F238E27FC236}">
                <a16:creationId xmlns:a16="http://schemas.microsoft.com/office/drawing/2014/main" id="{AE9224EB-A921-3EAB-9692-33F6DF687DDA}"/>
              </a:ext>
            </a:extLst>
          </p:cNvPr>
          <p:cNvSpPr txBox="1"/>
          <p:nvPr/>
        </p:nvSpPr>
        <p:spPr>
          <a:xfrm>
            <a:off x="2881612" y="5028008"/>
            <a:ext cx="6096000" cy="1323439"/>
          </a:xfrm>
          <a:prstGeom prst="rect">
            <a:avLst/>
          </a:prstGeom>
          <a:noFill/>
        </p:spPr>
        <p:txBody>
          <a:bodyPr wrap="square">
            <a:spAutoFit/>
          </a:bodyPr>
          <a:lstStyle/>
          <a:p>
            <a:pPr algn="l"/>
            <a:r>
              <a:rPr lang="en-IN" sz="2000" dirty="0">
                <a:latin typeface="Aparajita" panose="02020603050405020304" pitchFamily="18" charset="0"/>
                <a:cs typeface="Aparajita" panose="02020603050405020304" pitchFamily="18" charset="0"/>
              </a:rPr>
              <a:t>NAME                       :VAGHELA YOGRAJSINH </a:t>
            </a:r>
          </a:p>
          <a:p>
            <a:pPr algn="l"/>
            <a:r>
              <a:rPr lang="en-IN" sz="2000" dirty="0">
                <a:latin typeface="Aparajita" panose="02020603050405020304" pitchFamily="18" charset="0"/>
                <a:cs typeface="Aparajita" panose="02020603050405020304" pitchFamily="18" charset="0"/>
              </a:rPr>
              <a:t>ENROLLMENT NO : 24002171210198</a:t>
            </a:r>
          </a:p>
          <a:p>
            <a:pPr algn="l"/>
            <a:r>
              <a:rPr lang="en-IN" sz="2000" dirty="0">
                <a:latin typeface="Aparajita" panose="02020603050405020304" pitchFamily="18" charset="0"/>
                <a:cs typeface="Aparajita" panose="02020603050405020304" pitchFamily="18" charset="0"/>
              </a:rPr>
              <a:t>BATCH                     : B4</a:t>
            </a:r>
          </a:p>
          <a:p>
            <a:pPr algn="l"/>
            <a:r>
              <a:rPr lang="en-IN" sz="2000" dirty="0">
                <a:latin typeface="Aparajita" panose="02020603050405020304" pitchFamily="18" charset="0"/>
                <a:cs typeface="Aparajita" panose="02020603050405020304" pitchFamily="18" charset="0"/>
              </a:rPr>
              <a:t>BRANCH                  : CSE</a:t>
            </a:r>
          </a:p>
        </p:txBody>
      </p:sp>
    </p:spTree>
    <p:extLst>
      <p:ext uri="{BB962C8B-B14F-4D97-AF65-F5344CB8AC3E}">
        <p14:creationId xmlns:p14="http://schemas.microsoft.com/office/powerpoint/2010/main" val="4119915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0AF6A-872B-3DC6-0BB7-79D5A9EC1B80}"/>
              </a:ext>
            </a:extLst>
          </p:cNvPr>
          <p:cNvSpPr>
            <a:spLocks noGrp="1"/>
          </p:cNvSpPr>
          <p:nvPr>
            <p:ph type="title"/>
          </p:nvPr>
        </p:nvSpPr>
        <p:spPr>
          <a:xfrm>
            <a:off x="2871020" y="776748"/>
            <a:ext cx="6791042" cy="875071"/>
          </a:xfrm>
        </p:spPr>
        <p:txBody>
          <a:bodyPr/>
          <a:lstStyle/>
          <a:p>
            <a:r>
              <a:rPr lang="en-IN" sz="6000" dirty="0">
                <a:latin typeface="Algerian" panose="04020705040A02060702" pitchFamily="82" charset="0"/>
              </a:rPr>
              <a:t>INTRODUCTION</a:t>
            </a:r>
          </a:p>
        </p:txBody>
      </p:sp>
      <p:sp>
        <p:nvSpPr>
          <p:cNvPr id="3" name="Text Placeholder 2">
            <a:extLst>
              <a:ext uri="{FF2B5EF4-FFF2-40B4-BE49-F238E27FC236}">
                <a16:creationId xmlns:a16="http://schemas.microsoft.com/office/drawing/2014/main" id="{2659CF09-3D4D-17BE-13C8-E3B080A86B32}"/>
              </a:ext>
            </a:extLst>
          </p:cNvPr>
          <p:cNvSpPr>
            <a:spLocks noGrp="1"/>
          </p:cNvSpPr>
          <p:nvPr>
            <p:ph type="body" sz="quarter" idx="13"/>
          </p:nvPr>
        </p:nvSpPr>
        <p:spPr>
          <a:xfrm>
            <a:off x="2404909" y="2165145"/>
            <a:ext cx="8109772" cy="3715467"/>
          </a:xfrm>
        </p:spPr>
        <p:txBody>
          <a:bodyPr>
            <a:normAutofit fontScale="92500" lnSpcReduction="20000"/>
          </a:bodyPr>
          <a:lstStyle/>
          <a:p>
            <a:pPr marL="342900" indent="-342900" algn="l">
              <a:buFont typeface="Wingdings" panose="05000000000000000000" pitchFamily="2" charset="2"/>
              <a:buChar char="Ø"/>
            </a:pPr>
            <a:r>
              <a:rPr lang="en-US" cap="none" dirty="0">
                <a:latin typeface="Aparajita" panose="02020603050405020304" pitchFamily="18" charset="0"/>
                <a:cs typeface="Aparajita" panose="02020603050405020304" pitchFamily="18" charset="0"/>
              </a:rPr>
              <a:t>Tours and Travels is all about helping people to plan their trips from start to finish without any stress. </a:t>
            </a:r>
          </a:p>
          <a:p>
            <a:pPr marL="342900" indent="-342900" algn="l">
              <a:buFont typeface="Wingdings" panose="05000000000000000000" pitchFamily="2" charset="2"/>
              <a:buChar char="Ø"/>
            </a:pPr>
            <a:endParaRPr lang="en-US" cap="none" dirty="0">
              <a:latin typeface="Aparajita" panose="02020603050405020304" pitchFamily="18" charset="0"/>
              <a:cs typeface="Aparajita" panose="02020603050405020304" pitchFamily="18" charset="0"/>
            </a:endParaRPr>
          </a:p>
          <a:p>
            <a:pPr marL="342900" indent="-342900" algn="l">
              <a:buFont typeface="Wingdings" panose="05000000000000000000" pitchFamily="2" charset="2"/>
              <a:buChar char="Ø"/>
            </a:pPr>
            <a:r>
              <a:rPr lang="en-US" cap="none" dirty="0">
                <a:latin typeface="Aparajita" panose="02020603050405020304" pitchFamily="18" charset="0"/>
                <a:cs typeface="Aparajita" panose="02020603050405020304" pitchFamily="18" charset="0"/>
              </a:rPr>
              <a:t>It’s a huge Business that connects everything what a Traveler needs like finding a beautiful place to visit, booking a comfortable hotel to stay in and picking the best spots to eat.</a:t>
            </a:r>
          </a:p>
          <a:p>
            <a:pPr marL="342900" indent="-342900" algn="l">
              <a:buFont typeface="Wingdings" panose="05000000000000000000" pitchFamily="2" charset="2"/>
              <a:buChar char="Ø"/>
            </a:pPr>
            <a:endParaRPr lang="en-US" cap="none" dirty="0">
              <a:latin typeface="Aparajita" panose="02020603050405020304" pitchFamily="18" charset="0"/>
              <a:cs typeface="Aparajita" panose="02020603050405020304" pitchFamily="18" charset="0"/>
            </a:endParaRPr>
          </a:p>
          <a:p>
            <a:pPr marL="342900" indent="-342900" algn="l">
              <a:buFont typeface="Wingdings" panose="05000000000000000000" pitchFamily="2" charset="2"/>
              <a:buChar char="Ø"/>
            </a:pPr>
            <a:r>
              <a:rPr lang="en-US" cap="none" dirty="0">
                <a:latin typeface="Aparajita" panose="02020603050405020304" pitchFamily="18" charset="0"/>
                <a:cs typeface="Aparajita" panose="02020603050405020304" pitchFamily="18" charset="0"/>
              </a:rPr>
              <a:t> Instead of people having to figure out everything on their own, travel platforms act like a digital helper that brings all these choices into one place. </a:t>
            </a:r>
          </a:p>
          <a:p>
            <a:pPr marL="342900" indent="-342900" algn="l">
              <a:buFont typeface="Wingdings" panose="05000000000000000000" pitchFamily="2" charset="2"/>
              <a:buChar char="Ø"/>
            </a:pPr>
            <a:endParaRPr lang="en-US" cap="none" dirty="0">
              <a:latin typeface="Aparajita" panose="02020603050405020304" pitchFamily="18" charset="0"/>
              <a:cs typeface="Aparajita" panose="02020603050405020304" pitchFamily="18" charset="0"/>
            </a:endParaRPr>
          </a:p>
          <a:p>
            <a:pPr marL="342900" indent="-342900" algn="l">
              <a:buFont typeface="Wingdings" panose="05000000000000000000" pitchFamily="2" charset="2"/>
              <a:buChar char="Ø"/>
            </a:pPr>
            <a:r>
              <a:rPr lang="en-US" cap="none" dirty="0">
                <a:latin typeface="Aparajita" panose="02020603050405020304" pitchFamily="18" charset="0"/>
                <a:cs typeface="Aparajita" panose="02020603050405020304" pitchFamily="18" charset="0"/>
              </a:rPr>
              <a:t>The main goal is to make the journey easy and fun, so the traveler can focus on enjoying their vacation while the technology handles the boring stuff like prices, bookings, and schedules.</a:t>
            </a:r>
          </a:p>
          <a:p>
            <a:endParaRPr lang="en-IN" dirty="0"/>
          </a:p>
        </p:txBody>
      </p:sp>
      <p:pic>
        <p:nvPicPr>
          <p:cNvPr id="4" name="Picture 3">
            <a:extLst>
              <a:ext uri="{FF2B5EF4-FFF2-40B4-BE49-F238E27FC236}">
                <a16:creationId xmlns:a16="http://schemas.microsoft.com/office/drawing/2014/main" id="{C39906F9-7FAE-25F9-108A-559FC269CE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791" y="110173"/>
            <a:ext cx="741512" cy="776377"/>
          </a:xfrm>
          <a:prstGeom prst="rect">
            <a:avLst/>
          </a:prstGeom>
        </p:spPr>
      </p:pic>
      <p:pic>
        <p:nvPicPr>
          <p:cNvPr id="5" name="Picture 4">
            <a:extLst>
              <a:ext uri="{FF2B5EF4-FFF2-40B4-BE49-F238E27FC236}">
                <a16:creationId xmlns:a16="http://schemas.microsoft.com/office/drawing/2014/main" id="{CAB7EDDF-8EE2-8F1D-85AC-6C74953CF5A4}"/>
              </a:ext>
            </a:extLst>
          </p:cNvPr>
          <p:cNvPicPr>
            <a:picLocks noChangeAspect="1"/>
          </p:cNvPicPr>
          <p:nvPr/>
        </p:nvPicPr>
        <p:blipFill>
          <a:blip r:embed="rId3"/>
          <a:stretch>
            <a:fillRect/>
          </a:stretch>
        </p:blipFill>
        <p:spPr>
          <a:xfrm>
            <a:off x="9494428" y="120739"/>
            <a:ext cx="2524125" cy="485775"/>
          </a:xfrm>
          <a:prstGeom prst="rect">
            <a:avLst/>
          </a:prstGeom>
        </p:spPr>
      </p:pic>
    </p:spTree>
    <p:extLst>
      <p:ext uri="{BB962C8B-B14F-4D97-AF65-F5344CB8AC3E}">
        <p14:creationId xmlns:p14="http://schemas.microsoft.com/office/powerpoint/2010/main" val="2955076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88B53-1E18-29BF-A18A-BADC5AF95AA8}"/>
              </a:ext>
            </a:extLst>
          </p:cNvPr>
          <p:cNvSpPr>
            <a:spLocks noGrp="1"/>
          </p:cNvSpPr>
          <p:nvPr>
            <p:ph type="title"/>
          </p:nvPr>
        </p:nvSpPr>
        <p:spPr>
          <a:xfrm>
            <a:off x="1629696" y="717756"/>
            <a:ext cx="5643717" cy="825910"/>
          </a:xfrm>
        </p:spPr>
        <p:txBody>
          <a:bodyPr/>
          <a:lstStyle/>
          <a:p>
            <a:r>
              <a:rPr lang="en-IN" sz="4000" dirty="0">
                <a:latin typeface="Algerian" panose="04020705040A02060702" pitchFamily="82" charset="0"/>
              </a:rPr>
              <a:t>Functionalities </a:t>
            </a:r>
          </a:p>
        </p:txBody>
      </p:sp>
      <p:sp>
        <p:nvSpPr>
          <p:cNvPr id="3" name="Text Placeholder 2">
            <a:extLst>
              <a:ext uri="{FF2B5EF4-FFF2-40B4-BE49-F238E27FC236}">
                <a16:creationId xmlns:a16="http://schemas.microsoft.com/office/drawing/2014/main" id="{37E291DE-0C10-D0CC-9D1E-6E2276498ECD}"/>
              </a:ext>
            </a:extLst>
          </p:cNvPr>
          <p:cNvSpPr>
            <a:spLocks noGrp="1"/>
          </p:cNvSpPr>
          <p:nvPr>
            <p:ph type="body" sz="quarter" idx="13"/>
          </p:nvPr>
        </p:nvSpPr>
        <p:spPr>
          <a:xfrm>
            <a:off x="2612924" y="1600201"/>
            <a:ext cx="3119284" cy="5201264"/>
          </a:xfrm>
        </p:spPr>
        <p:txBody>
          <a:bodyPr>
            <a:normAutofit fontScale="55000" lnSpcReduction="20000"/>
          </a:bodyPr>
          <a:lstStyle/>
          <a:p>
            <a:pPr marL="285750" indent="-285750" algn="l">
              <a:buFont typeface="Wingdings" panose="05000000000000000000" pitchFamily="2" charset="2"/>
              <a:buChar char="Ø"/>
            </a:pPr>
            <a:endParaRPr lang="en-US" sz="1800" cap="none" dirty="0">
              <a:latin typeface="Aparajita" panose="02020603050405020304" pitchFamily="18" charset="0"/>
              <a:cs typeface="Aparajita" panose="02020603050405020304" pitchFamily="18" charset="0"/>
            </a:endParaRPr>
          </a:p>
          <a:p>
            <a:pPr algn="l"/>
            <a:r>
              <a:rPr lang="en-US" sz="3800" cap="none" dirty="0">
                <a:solidFill>
                  <a:schemeClr val="bg2">
                    <a:lumMod val="25000"/>
                  </a:schemeClr>
                </a:solidFill>
                <a:latin typeface="Aparajita" panose="02020603050405020304" pitchFamily="18" charset="0"/>
                <a:cs typeface="Aparajita" panose="02020603050405020304" pitchFamily="18" charset="0"/>
              </a:rPr>
              <a:t>1.  The user entry-</a:t>
            </a:r>
          </a:p>
          <a:p>
            <a:pPr marL="1143000" lvl="1" indent="-457200">
              <a:buAutoNum type="arabicPeriod"/>
            </a:pPr>
            <a:endParaRPr lang="en-US" sz="2300" cap="none" dirty="0">
              <a:latin typeface="Aparajita" panose="02020603050405020304" pitchFamily="18" charset="0"/>
              <a:cs typeface="Aparajita" panose="02020603050405020304" pitchFamily="18" charset="0"/>
            </a:endParaRPr>
          </a:p>
          <a:p>
            <a:pPr marL="971550" lvl="1" indent="-285750"/>
            <a:r>
              <a:rPr lang="en-US" sz="2900" cap="none" dirty="0">
                <a:latin typeface="Aparajita" panose="02020603050405020304" pitchFamily="18" charset="0"/>
                <a:cs typeface="Aparajita" panose="02020603050405020304" pitchFamily="18" charset="0"/>
              </a:rPr>
              <a:t>Unified Access </a:t>
            </a:r>
          </a:p>
          <a:p>
            <a:pPr marL="971550" lvl="1" indent="-285750"/>
            <a:r>
              <a:rPr lang="en-US" sz="2900" cap="none" dirty="0">
                <a:latin typeface="Aparajita" panose="02020603050405020304" pitchFamily="18" charset="0"/>
                <a:cs typeface="Aparajita" panose="02020603050405020304" pitchFamily="18" charset="0"/>
              </a:rPr>
              <a:t>Secure Authentication</a:t>
            </a:r>
          </a:p>
          <a:p>
            <a:pPr marL="971550" lvl="1" indent="-285750"/>
            <a:r>
              <a:rPr lang="en-US" sz="2900" cap="none" dirty="0">
                <a:latin typeface="Aparajita" panose="02020603050405020304" pitchFamily="18" charset="0"/>
                <a:cs typeface="Aparajita" panose="02020603050405020304" pitchFamily="18" charset="0"/>
              </a:rPr>
              <a:t>Live Status</a:t>
            </a:r>
          </a:p>
          <a:p>
            <a:pPr marL="285750" indent="-285750" algn="l">
              <a:buFont typeface="Arial" panose="020B0604020202020204" pitchFamily="34" charset="0"/>
              <a:buChar char="•"/>
            </a:pPr>
            <a:endParaRPr lang="en-US" sz="1800" cap="none" dirty="0">
              <a:latin typeface="Aparajita" panose="02020603050405020304" pitchFamily="18" charset="0"/>
              <a:cs typeface="Aparajita" panose="02020603050405020304" pitchFamily="18" charset="0"/>
            </a:endParaRPr>
          </a:p>
          <a:p>
            <a:pPr algn="l"/>
            <a:r>
              <a:rPr lang="en-US" sz="3600" cap="none" dirty="0">
                <a:latin typeface="Aparajita" panose="02020603050405020304" pitchFamily="18" charset="0"/>
                <a:cs typeface="Aparajita" panose="02020603050405020304" pitchFamily="18" charset="0"/>
              </a:rPr>
              <a:t>2.  </a:t>
            </a:r>
            <a:r>
              <a:rPr lang="en-US" sz="3800" cap="none" dirty="0">
                <a:solidFill>
                  <a:schemeClr val="bg2">
                    <a:lumMod val="25000"/>
                  </a:schemeClr>
                </a:solidFill>
                <a:latin typeface="Aparajita" panose="02020603050405020304" pitchFamily="18" charset="0"/>
                <a:cs typeface="Aparajita" panose="02020603050405020304" pitchFamily="18" charset="0"/>
              </a:rPr>
              <a:t>The Discovery-</a:t>
            </a:r>
          </a:p>
          <a:p>
            <a:pPr algn="l"/>
            <a:endParaRPr lang="en-US" sz="2000" cap="none" dirty="0">
              <a:latin typeface="Aparajita" panose="02020603050405020304" pitchFamily="18" charset="0"/>
              <a:cs typeface="Aparajita" panose="02020603050405020304" pitchFamily="18" charset="0"/>
            </a:endParaRPr>
          </a:p>
          <a:p>
            <a:pPr marL="971550" lvl="1" indent="-285750"/>
            <a:r>
              <a:rPr lang="en-US" sz="2900" cap="none" dirty="0">
                <a:latin typeface="Aparajita" panose="02020603050405020304" pitchFamily="18" charset="0"/>
                <a:cs typeface="Aparajita" panose="02020603050405020304" pitchFamily="18" charset="0"/>
              </a:rPr>
              <a:t>Curated data</a:t>
            </a:r>
          </a:p>
          <a:p>
            <a:pPr marL="971550" lvl="1" indent="-285750"/>
            <a:r>
              <a:rPr lang="en-US" sz="2900" cap="none" dirty="0">
                <a:latin typeface="Aparajita" panose="02020603050405020304" pitchFamily="18" charset="0"/>
                <a:cs typeface="Aparajita" panose="02020603050405020304" pitchFamily="18" charset="0"/>
              </a:rPr>
              <a:t>Smooth User Experience </a:t>
            </a:r>
          </a:p>
          <a:p>
            <a:pPr marL="971550" lvl="1" indent="-285750"/>
            <a:r>
              <a:rPr lang="en-US" sz="2900" cap="none" dirty="0">
                <a:latin typeface="Aparajita" panose="02020603050405020304" pitchFamily="18" charset="0"/>
                <a:cs typeface="Aparajita" panose="02020603050405020304" pitchFamily="18" charset="0"/>
              </a:rPr>
              <a:t>Instant search </a:t>
            </a:r>
          </a:p>
          <a:p>
            <a:pPr marL="285750" indent="-285750" algn="l">
              <a:buFont typeface="Arial" panose="020B0604020202020204" pitchFamily="34" charset="0"/>
              <a:buChar char="•"/>
            </a:pPr>
            <a:endParaRPr lang="en-US" sz="1800" cap="none" dirty="0">
              <a:latin typeface="Aparajita" panose="02020603050405020304" pitchFamily="18" charset="0"/>
              <a:cs typeface="Aparajita" panose="02020603050405020304" pitchFamily="18" charset="0"/>
            </a:endParaRPr>
          </a:p>
          <a:p>
            <a:pPr algn="l"/>
            <a:r>
              <a:rPr lang="en-US" sz="3600" cap="none" dirty="0">
                <a:latin typeface="Aparajita" panose="02020603050405020304" pitchFamily="18" charset="0"/>
                <a:cs typeface="Aparajita" panose="02020603050405020304" pitchFamily="18" charset="0"/>
              </a:rPr>
              <a:t>3.  </a:t>
            </a:r>
            <a:r>
              <a:rPr lang="en-US" sz="3800" cap="none" dirty="0">
                <a:solidFill>
                  <a:schemeClr val="bg2">
                    <a:lumMod val="25000"/>
                  </a:schemeClr>
                </a:solidFill>
                <a:latin typeface="Aparajita" panose="02020603050405020304" pitchFamily="18" charset="0"/>
                <a:cs typeface="Aparajita" panose="02020603050405020304" pitchFamily="18" charset="0"/>
              </a:rPr>
              <a:t>The Booking-</a:t>
            </a:r>
          </a:p>
          <a:p>
            <a:pPr algn="l"/>
            <a:endParaRPr lang="en-US" sz="1800" cap="none" dirty="0">
              <a:latin typeface="Aparajita" panose="02020603050405020304" pitchFamily="18" charset="0"/>
              <a:cs typeface="Aparajita" panose="02020603050405020304" pitchFamily="18" charset="0"/>
            </a:endParaRPr>
          </a:p>
          <a:p>
            <a:pPr marL="971550" lvl="1" indent="-285750"/>
            <a:r>
              <a:rPr lang="en-US" sz="2900" cap="none" dirty="0">
                <a:latin typeface="Aparajita" panose="02020603050405020304" pitchFamily="18" charset="0"/>
                <a:cs typeface="Aparajita" panose="02020603050405020304" pitchFamily="18" charset="0"/>
              </a:rPr>
              <a:t>Auto Invoicing </a:t>
            </a:r>
          </a:p>
          <a:p>
            <a:pPr marL="971550" lvl="1" indent="-285750"/>
            <a:r>
              <a:rPr lang="en-US" sz="2900" cap="none" dirty="0">
                <a:latin typeface="Aparajita" panose="02020603050405020304" pitchFamily="18" charset="0"/>
                <a:cs typeface="Aparajita" panose="02020603050405020304" pitchFamily="18" charset="0"/>
              </a:rPr>
              <a:t>Offer logic </a:t>
            </a:r>
          </a:p>
          <a:p>
            <a:pPr marL="971550" lvl="1" indent="-285750"/>
            <a:r>
              <a:rPr lang="en-US" sz="2900" cap="none" dirty="0">
                <a:latin typeface="Aparajita" panose="02020603050405020304" pitchFamily="18" charset="0"/>
                <a:cs typeface="Aparajita" panose="02020603050405020304" pitchFamily="18" charset="0"/>
              </a:rPr>
              <a:t>Persistent data </a:t>
            </a:r>
          </a:p>
          <a:p>
            <a:pPr marL="971550" lvl="1" indent="-285750"/>
            <a:endParaRPr lang="en-US" sz="2800" cap="none" dirty="0">
              <a:latin typeface="Aparajita" panose="02020603050405020304" pitchFamily="18" charset="0"/>
              <a:cs typeface="Aparajita" panose="02020603050405020304" pitchFamily="18" charset="0"/>
            </a:endParaRPr>
          </a:p>
          <a:p>
            <a:pPr algn="l"/>
            <a:r>
              <a:rPr lang="en-US" sz="3600" cap="none" dirty="0">
                <a:latin typeface="Aparajita" panose="02020603050405020304" pitchFamily="18" charset="0"/>
                <a:cs typeface="Aparajita" panose="02020603050405020304" pitchFamily="18" charset="0"/>
              </a:rPr>
              <a:t>4.  </a:t>
            </a:r>
            <a:r>
              <a:rPr lang="en-US" sz="3800" cap="none" dirty="0">
                <a:solidFill>
                  <a:schemeClr val="bg2">
                    <a:lumMod val="25000"/>
                  </a:schemeClr>
                </a:solidFill>
                <a:latin typeface="Aparajita" panose="02020603050405020304" pitchFamily="18" charset="0"/>
                <a:cs typeface="Aparajita" panose="02020603050405020304" pitchFamily="18" charset="0"/>
              </a:rPr>
              <a:t>The Services-</a:t>
            </a:r>
          </a:p>
          <a:p>
            <a:pPr algn="l"/>
            <a:endParaRPr lang="en-US" sz="1800" cap="none" dirty="0">
              <a:latin typeface="Aparajita" panose="02020603050405020304" pitchFamily="18" charset="0"/>
              <a:cs typeface="Aparajita" panose="02020603050405020304" pitchFamily="18" charset="0"/>
            </a:endParaRPr>
          </a:p>
          <a:p>
            <a:pPr marL="971550" lvl="1" indent="-285750"/>
            <a:r>
              <a:rPr lang="en-US" sz="2900" cap="none" dirty="0">
                <a:latin typeface="Aparajita" panose="02020603050405020304" pitchFamily="18" charset="0"/>
                <a:cs typeface="Aparajita" panose="02020603050405020304" pitchFamily="18" charset="0"/>
              </a:rPr>
              <a:t>One click tables </a:t>
            </a:r>
          </a:p>
          <a:p>
            <a:pPr marL="971550" lvl="1" indent="-285750"/>
            <a:r>
              <a:rPr lang="en-US" sz="2900" cap="none" dirty="0">
                <a:latin typeface="Aparajita" panose="02020603050405020304" pitchFamily="18" charset="0"/>
                <a:cs typeface="Aparajita" panose="02020603050405020304" pitchFamily="18" charset="0"/>
              </a:rPr>
              <a:t>Unique identity </a:t>
            </a:r>
          </a:p>
          <a:p>
            <a:pPr marL="971550" lvl="1" indent="-285750"/>
            <a:r>
              <a:rPr lang="en-US" sz="2900" cap="none" dirty="0">
                <a:latin typeface="Aparajita" panose="02020603050405020304" pitchFamily="18" charset="0"/>
                <a:cs typeface="Aparajita" panose="02020603050405020304" pitchFamily="18" charset="0"/>
              </a:rPr>
              <a:t>Complete loop</a:t>
            </a:r>
          </a:p>
          <a:p>
            <a:pPr marL="285750" indent="-285750" algn="l">
              <a:buFont typeface="Wingdings" panose="05000000000000000000" pitchFamily="2" charset="2"/>
              <a:buChar char="Ø"/>
            </a:pPr>
            <a:endParaRPr lang="en-IN" sz="1800" cap="none" dirty="0">
              <a:latin typeface="Aparajita" panose="02020603050405020304" pitchFamily="18" charset="0"/>
              <a:cs typeface="Aparajita" panose="02020603050405020304" pitchFamily="18" charset="0"/>
            </a:endParaRPr>
          </a:p>
        </p:txBody>
      </p:sp>
      <p:pic>
        <p:nvPicPr>
          <p:cNvPr id="5" name="Picture 4">
            <a:extLst>
              <a:ext uri="{FF2B5EF4-FFF2-40B4-BE49-F238E27FC236}">
                <a16:creationId xmlns:a16="http://schemas.microsoft.com/office/drawing/2014/main" id="{79581E8A-75B0-B7ED-830C-F1C319089A62}"/>
              </a:ext>
            </a:extLst>
          </p:cNvPr>
          <p:cNvPicPr>
            <a:picLocks noChangeAspect="1"/>
          </p:cNvPicPr>
          <p:nvPr/>
        </p:nvPicPr>
        <p:blipFill>
          <a:blip r:embed="rId2"/>
          <a:srcRect/>
          <a:stretch/>
        </p:blipFill>
        <p:spPr>
          <a:xfrm>
            <a:off x="7030065" y="1"/>
            <a:ext cx="5161935" cy="6858000"/>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FE481322-80AA-64CF-7A24-7986EF4DDA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791" y="110173"/>
            <a:ext cx="741512" cy="776377"/>
          </a:xfrm>
          <a:prstGeom prst="rect">
            <a:avLst/>
          </a:prstGeom>
        </p:spPr>
      </p:pic>
      <p:pic>
        <p:nvPicPr>
          <p:cNvPr id="7" name="Picture 6">
            <a:extLst>
              <a:ext uri="{FF2B5EF4-FFF2-40B4-BE49-F238E27FC236}">
                <a16:creationId xmlns:a16="http://schemas.microsoft.com/office/drawing/2014/main" id="{0B076E17-F8B3-AC0C-218A-5E7A86BF8DEC}"/>
              </a:ext>
            </a:extLst>
          </p:cNvPr>
          <p:cNvPicPr>
            <a:picLocks noChangeAspect="1"/>
          </p:cNvPicPr>
          <p:nvPr/>
        </p:nvPicPr>
        <p:blipFill>
          <a:blip r:embed="rId4"/>
          <a:stretch>
            <a:fillRect/>
          </a:stretch>
        </p:blipFill>
        <p:spPr>
          <a:xfrm>
            <a:off x="1020096" y="113993"/>
            <a:ext cx="2524125" cy="485775"/>
          </a:xfrm>
          <a:prstGeom prst="rect">
            <a:avLst/>
          </a:prstGeom>
        </p:spPr>
      </p:pic>
    </p:spTree>
    <p:extLst>
      <p:ext uri="{BB962C8B-B14F-4D97-AF65-F5344CB8AC3E}">
        <p14:creationId xmlns:p14="http://schemas.microsoft.com/office/powerpoint/2010/main" val="1774233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528EBB-5961-3C4E-C856-C1C6FEBB06A3}"/>
              </a:ext>
            </a:extLst>
          </p:cNvPr>
          <p:cNvSpPr>
            <a:spLocks noGrp="1"/>
          </p:cNvSpPr>
          <p:nvPr>
            <p:ph type="sldNum" sz="quarter" idx="4"/>
          </p:nvPr>
        </p:nvSpPr>
        <p:spPr/>
        <p:txBody>
          <a:bodyPr/>
          <a:lstStyle/>
          <a:p>
            <a:fld id="{58FB4751-880F-D840-AAA9-3A15815CC996}" type="slidenum">
              <a:rPr lang="en-US" smtClean="0"/>
              <a:pPr/>
              <a:t>5</a:t>
            </a:fld>
            <a:endParaRPr lang="en-US"/>
          </a:p>
        </p:txBody>
      </p:sp>
      <p:sp>
        <p:nvSpPr>
          <p:cNvPr id="3" name="Text 0">
            <a:extLst>
              <a:ext uri="{FF2B5EF4-FFF2-40B4-BE49-F238E27FC236}">
                <a16:creationId xmlns:a16="http://schemas.microsoft.com/office/drawing/2014/main" id="{8D9EF8FC-D294-11C1-AD68-D05732C77B5C}"/>
              </a:ext>
            </a:extLst>
          </p:cNvPr>
          <p:cNvSpPr/>
          <p:nvPr/>
        </p:nvSpPr>
        <p:spPr>
          <a:xfrm>
            <a:off x="203855" y="537298"/>
            <a:ext cx="10552635" cy="820542"/>
          </a:xfrm>
          <a:prstGeom prst="rect">
            <a:avLst/>
          </a:prstGeom>
          <a:noFill/>
          <a:ln/>
        </p:spPr>
        <p:txBody>
          <a:bodyPr wrap="none" lIns="0" tIns="0" rIns="0" bIns="0" rtlCol="0" anchor="t"/>
          <a:lstStyle/>
          <a:p>
            <a:pPr marL="0" indent="0" algn="ctr">
              <a:lnSpc>
                <a:spcPts val="5550"/>
              </a:lnSpc>
              <a:buNone/>
            </a:pPr>
            <a:r>
              <a:rPr lang="en-US" sz="3200" dirty="0">
                <a:solidFill>
                  <a:schemeClr val="bg2">
                    <a:lumMod val="25000"/>
                  </a:schemeClr>
                </a:solidFill>
                <a:latin typeface="Algerian" panose="04020705040A02060702" pitchFamily="82" charset="0"/>
                <a:ea typeface="Inter Bold" pitchFamily="34" charset="-122"/>
                <a:cs typeface="Aparajita" panose="02020603050405020304" pitchFamily="18" charset="0"/>
              </a:rPr>
              <a:t>Share Your Moments: beyond destinations</a:t>
            </a:r>
            <a:endParaRPr lang="en-US" sz="3200" dirty="0">
              <a:solidFill>
                <a:schemeClr val="bg2">
                  <a:lumMod val="25000"/>
                </a:schemeClr>
              </a:solidFill>
              <a:latin typeface="Algerian" panose="04020705040A02060702" pitchFamily="82" charset="0"/>
              <a:cs typeface="Aparajita" panose="02020603050405020304" pitchFamily="18" charset="0"/>
            </a:endParaRPr>
          </a:p>
        </p:txBody>
      </p:sp>
      <p:sp>
        <p:nvSpPr>
          <p:cNvPr id="4" name="Text 1">
            <a:extLst>
              <a:ext uri="{FF2B5EF4-FFF2-40B4-BE49-F238E27FC236}">
                <a16:creationId xmlns:a16="http://schemas.microsoft.com/office/drawing/2014/main" id="{1B70161B-16D0-3588-CACD-33D6229DE100}"/>
              </a:ext>
            </a:extLst>
          </p:cNvPr>
          <p:cNvSpPr/>
          <p:nvPr/>
        </p:nvSpPr>
        <p:spPr>
          <a:xfrm>
            <a:off x="341505" y="1391230"/>
            <a:ext cx="13042821" cy="725805"/>
          </a:xfrm>
          <a:prstGeom prst="rect">
            <a:avLst/>
          </a:prstGeom>
          <a:noFill/>
          <a:ln/>
        </p:spPr>
        <p:txBody>
          <a:bodyPr wrap="square" lIns="0" tIns="0" rIns="0" bIns="0" rtlCol="0" anchor="t"/>
          <a:lstStyle/>
          <a:p>
            <a:pPr marL="285750" indent="-285750">
              <a:lnSpc>
                <a:spcPts val="2850"/>
              </a:lnSpc>
              <a:buFont typeface="Wingdings" panose="05000000000000000000" pitchFamily="2" charset="2"/>
              <a:buChar char="q"/>
            </a:pPr>
            <a:r>
              <a:rPr lang="en-US" sz="1750" dirty="0">
                <a:latin typeface="Times New Roman" panose="02020603050405020304" pitchFamily="18" charset="0"/>
                <a:ea typeface="Inter" pitchFamily="34" charset="-122"/>
                <a:cs typeface="Times New Roman" panose="02020603050405020304" pitchFamily="18" charset="0"/>
              </a:rPr>
              <a:t>By engaging with </a:t>
            </a:r>
            <a:r>
              <a:rPr lang="en-US" sz="1750" dirty="0" err="1">
                <a:latin typeface="Times New Roman" panose="02020603050405020304" pitchFamily="18" charset="0"/>
                <a:ea typeface="Inter" pitchFamily="34" charset="-122"/>
                <a:cs typeface="Times New Roman" panose="02020603050405020304" pitchFamily="18" charset="0"/>
              </a:rPr>
              <a:t>Tripzy</a:t>
            </a:r>
            <a:r>
              <a:rPr lang="en-US" sz="1750" dirty="0">
                <a:latin typeface="Times New Roman" panose="02020603050405020304" pitchFamily="18" charset="0"/>
                <a:ea typeface="Inter" pitchFamily="34" charset="-122"/>
                <a:cs typeface="Times New Roman" panose="02020603050405020304" pitchFamily="18" charset="0"/>
              </a:rPr>
              <a:t> , sharing your life’s dreams and plannings has been easier. </a:t>
            </a:r>
          </a:p>
          <a:p>
            <a:pPr marL="285750" indent="-285750">
              <a:lnSpc>
                <a:spcPts val="2850"/>
              </a:lnSpc>
              <a:buFont typeface="Wingdings" panose="05000000000000000000" pitchFamily="2" charset="2"/>
              <a:buChar char="q"/>
            </a:pPr>
            <a:r>
              <a:rPr lang="en-US" sz="1750" dirty="0">
                <a:latin typeface="Times New Roman" panose="02020603050405020304" pitchFamily="18" charset="0"/>
                <a:cs typeface="Times New Roman" panose="02020603050405020304" pitchFamily="18" charset="0"/>
              </a:rPr>
              <a:t>It takes the role of a digital entry that manages the three pillars of a trip: where to go, where to stay, and where to eat.</a:t>
            </a:r>
          </a:p>
        </p:txBody>
      </p:sp>
      <p:pic>
        <p:nvPicPr>
          <p:cNvPr id="12" name="Picture 11">
            <a:extLst>
              <a:ext uri="{FF2B5EF4-FFF2-40B4-BE49-F238E27FC236}">
                <a16:creationId xmlns:a16="http://schemas.microsoft.com/office/drawing/2014/main" id="{D4A999EF-9B7D-1197-1A6A-5D6F9AC7BDB8}"/>
              </a:ext>
            </a:extLst>
          </p:cNvPr>
          <p:cNvPicPr>
            <a:picLocks noChangeAspect="1"/>
          </p:cNvPicPr>
          <p:nvPr/>
        </p:nvPicPr>
        <p:blipFill>
          <a:blip r:embed="rId2"/>
          <a:srcRect/>
          <a:stretch/>
        </p:blipFill>
        <p:spPr>
          <a:xfrm>
            <a:off x="4890556" y="2694227"/>
            <a:ext cx="2906966" cy="193445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6" name="Picture 15">
            <a:extLst>
              <a:ext uri="{FF2B5EF4-FFF2-40B4-BE49-F238E27FC236}">
                <a16:creationId xmlns:a16="http://schemas.microsoft.com/office/drawing/2014/main" id="{9001CEC4-582B-A692-5E61-ADB568192393}"/>
              </a:ext>
            </a:extLst>
          </p:cNvPr>
          <p:cNvPicPr>
            <a:picLocks noChangeAspect="1"/>
          </p:cNvPicPr>
          <p:nvPr/>
        </p:nvPicPr>
        <p:blipFill>
          <a:blip r:embed="rId3"/>
          <a:srcRect/>
          <a:stretch/>
        </p:blipFill>
        <p:spPr>
          <a:xfrm>
            <a:off x="8884813" y="2694227"/>
            <a:ext cx="2933387" cy="195203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7" name="Text 2">
            <a:extLst>
              <a:ext uri="{FF2B5EF4-FFF2-40B4-BE49-F238E27FC236}">
                <a16:creationId xmlns:a16="http://schemas.microsoft.com/office/drawing/2014/main" id="{2A810D48-8F2C-1FE2-20B5-F33323EA850C}"/>
              </a:ext>
            </a:extLst>
          </p:cNvPr>
          <p:cNvSpPr/>
          <p:nvPr/>
        </p:nvSpPr>
        <p:spPr>
          <a:xfrm>
            <a:off x="784684" y="4997460"/>
            <a:ext cx="2835235" cy="354330"/>
          </a:xfrm>
          <a:prstGeom prst="rect">
            <a:avLst/>
          </a:prstGeom>
          <a:noFill/>
          <a:ln/>
        </p:spPr>
        <p:txBody>
          <a:bodyPr wrap="none" lIns="0" tIns="0" rIns="0" bIns="0" rtlCol="0" anchor="t"/>
          <a:lstStyle/>
          <a:p>
            <a:pPr marL="0" indent="0" algn="ctr">
              <a:lnSpc>
                <a:spcPts val="2750"/>
              </a:lnSpc>
              <a:buNone/>
            </a:pPr>
            <a:r>
              <a:rPr lang="en-US" b="1" dirty="0">
                <a:solidFill>
                  <a:schemeClr val="tx1">
                    <a:lumMod val="75000"/>
                  </a:schemeClr>
                </a:solidFill>
                <a:latin typeface="Times New Roman" panose="02020603050405020304" pitchFamily="18" charset="0"/>
                <a:cs typeface="Times New Roman" panose="02020603050405020304" pitchFamily="18" charset="0"/>
              </a:rPr>
              <a:t>Explore</a:t>
            </a:r>
          </a:p>
        </p:txBody>
      </p:sp>
      <p:sp>
        <p:nvSpPr>
          <p:cNvPr id="18" name="Text 3">
            <a:extLst>
              <a:ext uri="{FF2B5EF4-FFF2-40B4-BE49-F238E27FC236}">
                <a16:creationId xmlns:a16="http://schemas.microsoft.com/office/drawing/2014/main" id="{AAAA64C7-13B3-A10A-F991-DACD6A10769A}"/>
              </a:ext>
            </a:extLst>
          </p:cNvPr>
          <p:cNvSpPr/>
          <p:nvPr/>
        </p:nvSpPr>
        <p:spPr>
          <a:xfrm>
            <a:off x="933090" y="5482813"/>
            <a:ext cx="2686829" cy="1142749"/>
          </a:xfrm>
          <a:prstGeom prst="rect">
            <a:avLst/>
          </a:prstGeom>
          <a:noFill/>
          <a:ln/>
        </p:spPr>
        <p:txBody>
          <a:bodyPr wrap="square" lIns="0" tIns="0" rIns="0" bIns="0" rtlCol="0" anchor="t"/>
          <a:lstStyle/>
          <a:p>
            <a:pPr marL="285750" indent="-285750">
              <a:lnSpc>
                <a:spcPts val="285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Navigate a perfect collection of global destinations with dynamic search.</a:t>
            </a:r>
            <a:endParaRPr lang="en-US" sz="1600" dirty="0">
              <a:latin typeface="Times New Roman" panose="02020603050405020304" pitchFamily="18" charset="0"/>
              <a:ea typeface="Inter"/>
              <a:cs typeface="Times New Roman" panose="02020603050405020304" pitchFamily="18" charset="0"/>
            </a:endParaRPr>
          </a:p>
        </p:txBody>
      </p:sp>
      <p:sp>
        <p:nvSpPr>
          <p:cNvPr id="19" name="Text 3">
            <a:extLst>
              <a:ext uri="{FF2B5EF4-FFF2-40B4-BE49-F238E27FC236}">
                <a16:creationId xmlns:a16="http://schemas.microsoft.com/office/drawing/2014/main" id="{8EB7B04C-1553-2631-DD5C-59397F8FC055}"/>
              </a:ext>
            </a:extLst>
          </p:cNvPr>
          <p:cNvSpPr/>
          <p:nvPr/>
        </p:nvSpPr>
        <p:spPr>
          <a:xfrm>
            <a:off x="4016692" y="5186542"/>
            <a:ext cx="3780830" cy="354331"/>
          </a:xfrm>
          <a:prstGeom prst="rect">
            <a:avLst/>
          </a:prstGeom>
          <a:noFill/>
          <a:ln/>
        </p:spPr>
        <p:txBody>
          <a:bodyPr wrap="square" lIns="0" tIns="0" rIns="0" bIns="0" rtlCol="0" anchor="t"/>
          <a:lstStyle/>
          <a:p>
            <a:pPr marL="0" indent="0" algn="l">
              <a:lnSpc>
                <a:spcPts val="2850"/>
              </a:lnSpc>
              <a:buNone/>
            </a:pPr>
            <a:endParaRPr lang="en-US" sz="1750" b="1">
              <a:solidFill>
                <a:schemeClr val="bg2">
                  <a:lumMod val="25000"/>
                </a:schemeClr>
              </a:solidFill>
            </a:endParaRPr>
          </a:p>
        </p:txBody>
      </p:sp>
      <p:sp>
        <p:nvSpPr>
          <p:cNvPr id="27" name="TextBox 26">
            <a:extLst>
              <a:ext uri="{FF2B5EF4-FFF2-40B4-BE49-F238E27FC236}">
                <a16:creationId xmlns:a16="http://schemas.microsoft.com/office/drawing/2014/main" id="{64C25765-2990-F029-D3A0-E53157DF96FC}"/>
              </a:ext>
            </a:extLst>
          </p:cNvPr>
          <p:cNvSpPr txBox="1"/>
          <p:nvPr/>
        </p:nvSpPr>
        <p:spPr>
          <a:xfrm>
            <a:off x="8884813" y="5387132"/>
            <a:ext cx="2972400" cy="1486946"/>
          </a:xfrm>
          <a:prstGeom prst="rect">
            <a:avLst/>
          </a:prstGeom>
          <a:noFill/>
        </p:spPr>
        <p:txBody>
          <a:bodyPr wrap="square">
            <a:spAutoFit/>
          </a:bodyPr>
          <a:lstStyle/>
          <a:p>
            <a:pPr marL="285750" indent="-285750">
              <a:lnSpc>
                <a:spcPts val="275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Secure your seat at the best food courts and restaurants with seamless table reservations.</a:t>
            </a:r>
            <a:endParaRPr lang="en-US" sz="16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28" name="Text 5">
            <a:extLst>
              <a:ext uri="{FF2B5EF4-FFF2-40B4-BE49-F238E27FC236}">
                <a16:creationId xmlns:a16="http://schemas.microsoft.com/office/drawing/2014/main" id="{7996271D-FFCE-8AF9-DAA3-4BDF17A34D88}"/>
              </a:ext>
            </a:extLst>
          </p:cNvPr>
          <p:cNvSpPr/>
          <p:nvPr/>
        </p:nvSpPr>
        <p:spPr>
          <a:xfrm>
            <a:off x="4340556" y="5503377"/>
            <a:ext cx="4158615" cy="1151716"/>
          </a:xfrm>
          <a:prstGeom prst="rect">
            <a:avLst/>
          </a:prstGeom>
          <a:noFill/>
          <a:ln/>
        </p:spPr>
        <p:txBody>
          <a:bodyPr wrap="square" lIns="0" tIns="0" rIns="0" bIns="0" rtlCol="0" anchor="t"/>
          <a:lstStyle/>
          <a:p>
            <a:pPr marL="285750" indent="-285750">
              <a:lnSpc>
                <a:spcPts val="285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Experience premium hospitality with an automated booking engine that handles taxes, discounts, and instant invoicing.</a:t>
            </a:r>
            <a:endParaRPr lang="en-US" sz="1600" dirty="0">
              <a:solidFill>
                <a:schemeClr val="tx1">
                  <a:lumMod val="75000"/>
                </a:schemeClr>
              </a:solidFill>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93E2C74C-148D-B700-7EE5-AEEC7EFCF724}"/>
              </a:ext>
            </a:extLst>
          </p:cNvPr>
          <p:cNvSpPr txBox="1"/>
          <p:nvPr/>
        </p:nvSpPr>
        <p:spPr>
          <a:xfrm>
            <a:off x="4019519" y="4926852"/>
            <a:ext cx="4487509" cy="434221"/>
          </a:xfrm>
          <a:prstGeom prst="rect">
            <a:avLst/>
          </a:prstGeom>
          <a:noFill/>
        </p:spPr>
        <p:txBody>
          <a:bodyPr wrap="square">
            <a:spAutoFit/>
          </a:bodyPr>
          <a:lstStyle/>
          <a:p>
            <a:pPr marL="0" indent="0" algn="ctr">
              <a:lnSpc>
                <a:spcPts val="2850"/>
              </a:lnSpc>
              <a:buNone/>
            </a:pPr>
            <a:r>
              <a:rPr lang="en-US" b="1" dirty="0">
                <a:solidFill>
                  <a:schemeClr val="bg2">
                    <a:lumMod val="25000"/>
                  </a:schemeClr>
                </a:solidFill>
                <a:latin typeface="Times New Roman" panose="02020603050405020304" pitchFamily="18" charset="0"/>
                <a:cs typeface="Times New Roman" panose="02020603050405020304" pitchFamily="18" charset="0"/>
              </a:rPr>
              <a:t>RESIDENCE</a:t>
            </a:r>
          </a:p>
        </p:txBody>
      </p:sp>
      <p:sp>
        <p:nvSpPr>
          <p:cNvPr id="36" name="TextBox 35">
            <a:extLst>
              <a:ext uri="{FF2B5EF4-FFF2-40B4-BE49-F238E27FC236}">
                <a16:creationId xmlns:a16="http://schemas.microsoft.com/office/drawing/2014/main" id="{5153CB5A-EC04-3B11-6442-A6D74315B55E}"/>
              </a:ext>
            </a:extLst>
          </p:cNvPr>
          <p:cNvSpPr txBox="1"/>
          <p:nvPr/>
        </p:nvSpPr>
        <p:spPr>
          <a:xfrm>
            <a:off x="9351152" y="4926852"/>
            <a:ext cx="2370823" cy="424603"/>
          </a:xfrm>
          <a:prstGeom prst="rect">
            <a:avLst/>
          </a:prstGeom>
          <a:noFill/>
        </p:spPr>
        <p:txBody>
          <a:bodyPr wrap="square">
            <a:spAutoFit/>
          </a:bodyPr>
          <a:lstStyle/>
          <a:p>
            <a:pPr marL="0" indent="0" algn="ctr">
              <a:lnSpc>
                <a:spcPts val="2750"/>
              </a:lnSpc>
              <a:buNone/>
            </a:pPr>
            <a:r>
              <a:rPr lang="en-US" b="1" dirty="0">
                <a:solidFill>
                  <a:schemeClr val="bg2">
                    <a:lumMod val="25000"/>
                  </a:schemeClr>
                </a:solidFill>
                <a:latin typeface="Times New Roman" panose="02020603050405020304" pitchFamily="18" charset="0"/>
                <a:cs typeface="Times New Roman" panose="02020603050405020304" pitchFamily="18" charset="0"/>
              </a:rPr>
              <a:t>DINE</a:t>
            </a:r>
          </a:p>
        </p:txBody>
      </p:sp>
      <p:pic>
        <p:nvPicPr>
          <p:cNvPr id="5" name="Picture 4">
            <a:extLst>
              <a:ext uri="{FF2B5EF4-FFF2-40B4-BE49-F238E27FC236}">
                <a16:creationId xmlns:a16="http://schemas.microsoft.com/office/drawing/2014/main" id="{18C0EB88-8CBE-179D-FC54-41B05394F4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791" y="110173"/>
            <a:ext cx="741512" cy="776377"/>
          </a:xfrm>
          <a:prstGeom prst="rect">
            <a:avLst/>
          </a:prstGeom>
        </p:spPr>
      </p:pic>
      <p:pic>
        <p:nvPicPr>
          <p:cNvPr id="6" name="Picture 5">
            <a:extLst>
              <a:ext uri="{FF2B5EF4-FFF2-40B4-BE49-F238E27FC236}">
                <a16:creationId xmlns:a16="http://schemas.microsoft.com/office/drawing/2014/main" id="{4C5C0AF6-B3B0-125A-786B-22448F441344}"/>
              </a:ext>
            </a:extLst>
          </p:cNvPr>
          <p:cNvPicPr>
            <a:picLocks noChangeAspect="1"/>
          </p:cNvPicPr>
          <p:nvPr/>
        </p:nvPicPr>
        <p:blipFill>
          <a:blip r:embed="rId5"/>
          <a:stretch>
            <a:fillRect/>
          </a:stretch>
        </p:blipFill>
        <p:spPr>
          <a:xfrm>
            <a:off x="9494428" y="120739"/>
            <a:ext cx="2524125" cy="485775"/>
          </a:xfrm>
          <a:prstGeom prst="rect">
            <a:avLst/>
          </a:prstGeom>
        </p:spPr>
      </p:pic>
      <p:pic>
        <p:nvPicPr>
          <p:cNvPr id="11" name="Picture 10">
            <a:extLst>
              <a:ext uri="{FF2B5EF4-FFF2-40B4-BE49-F238E27FC236}">
                <a16:creationId xmlns:a16="http://schemas.microsoft.com/office/drawing/2014/main" id="{A3E93195-E618-EE4D-2526-FA1B9ED0EBBD}"/>
              </a:ext>
            </a:extLst>
          </p:cNvPr>
          <p:cNvPicPr>
            <a:picLocks noChangeAspect="1"/>
          </p:cNvPicPr>
          <p:nvPr/>
        </p:nvPicPr>
        <p:blipFill>
          <a:blip r:embed="rId6"/>
          <a:stretch>
            <a:fillRect/>
          </a:stretch>
        </p:blipFill>
        <p:spPr>
          <a:xfrm>
            <a:off x="850515" y="2698968"/>
            <a:ext cx="2952750" cy="187053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553380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2712130" y="363626"/>
            <a:ext cx="5694451" cy="914400"/>
          </a:xfrm>
        </p:spPr>
        <p:txBody>
          <a:bodyPr/>
          <a:lstStyle/>
          <a:p>
            <a:r>
              <a:rPr lang="en-US" sz="3600" dirty="0">
                <a:latin typeface="Algerian" panose="04020705040A02060702" pitchFamily="82" charset="0"/>
              </a:rPr>
              <a:t>TECH STACK OVERVIEW :</a:t>
            </a: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1061883" y="1672372"/>
            <a:ext cx="5270091" cy="5005896"/>
          </a:xfrm>
        </p:spPr>
        <p:txBody>
          <a:bodyPr>
            <a:normAutofit fontScale="92500" lnSpcReduction="10000"/>
          </a:bodyPr>
          <a:lstStyle/>
          <a:p>
            <a:pPr marL="457200" indent="-457200">
              <a:buFont typeface="+mj-lt"/>
              <a:buAutoNum type="arabicPeriod"/>
            </a:pPr>
            <a:r>
              <a:rPr lang="en-IN" sz="2400" dirty="0">
                <a:latin typeface="Times New Roman" panose="02020603050405020304" pitchFamily="18" charset="0"/>
                <a:cs typeface="Times New Roman" panose="02020603050405020304" pitchFamily="18" charset="0"/>
              </a:rPr>
              <a:t>Frontend Development (UI/UX)</a:t>
            </a:r>
          </a:p>
          <a:p>
            <a:pPr marL="457200" indent="-457200">
              <a:buFont typeface="+mj-lt"/>
              <a:buAutoNum type="arabicPeriod"/>
            </a:pPr>
            <a:endParaRPr lang="en-IN" sz="2400" dirty="0">
              <a:latin typeface="Times New Roman" panose="02020603050405020304" pitchFamily="18" charset="0"/>
              <a:cs typeface="Times New Roman" panose="02020603050405020304" pitchFamily="18" charset="0"/>
            </a:endParaRPr>
          </a:p>
          <a:p>
            <a:pPr lvl="1">
              <a:lnSpc>
                <a:spcPct val="150000"/>
              </a:lnSpc>
              <a:buFont typeface="Wingdings" panose="05000000000000000000" pitchFamily="2" charset="2"/>
              <a:buChar char="Ø"/>
            </a:pPr>
            <a:r>
              <a:rPr lang="en-IN" sz="2200" dirty="0">
                <a:latin typeface="Aparajita" panose="02020603050405020304" pitchFamily="18" charset="0"/>
                <a:cs typeface="Aparajita" panose="02020603050405020304" pitchFamily="18" charset="0"/>
              </a:rPr>
              <a:t>HTML5 &amp; CSS3 </a:t>
            </a:r>
          </a:p>
          <a:p>
            <a:pPr lvl="1">
              <a:lnSpc>
                <a:spcPct val="150000"/>
              </a:lnSpc>
              <a:buFont typeface="Wingdings" panose="05000000000000000000" pitchFamily="2" charset="2"/>
              <a:buChar char="Ø"/>
            </a:pPr>
            <a:r>
              <a:rPr lang="en-IN" sz="2200" dirty="0">
                <a:latin typeface="Aparajita" panose="02020603050405020304" pitchFamily="18" charset="0"/>
                <a:cs typeface="Aparajita" panose="02020603050405020304" pitchFamily="18" charset="0"/>
              </a:rPr>
              <a:t>Bootstrap 5</a:t>
            </a:r>
          </a:p>
          <a:p>
            <a:pPr lvl="1">
              <a:lnSpc>
                <a:spcPct val="150000"/>
              </a:lnSpc>
              <a:buFont typeface="Wingdings" panose="05000000000000000000" pitchFamily="2" charset="2"/>
              <a:buChar char="Ø"/>
            </a:pPr>
            <a:r>
              <a:rPr lang="en-IN" sz="2200" dirty="0">
                <a:latin typeface="Aparajita" panose="02020603050405020304" pitchFamily="18" charset="0"/>
                <a:cs typeface="Aparajita" panose="02020603050405020304" pitchFamily="18" charset="0"/>
              </a:rPr>
              <a:t>Aos (animate on scroll) </a:t>
            </a:r>
          </a:p>
          <a:p>
            <a:pPr lvl="1">
              <a:lnSpc>
                <a:spcPct val="150000"/>
              </a:lnSpc>
              <a:buFont typeface="Wingdings" panose="05000000000000000000" pitchFamily="2" charset="2"/>
              <a:buChar char="Ø"/>
            </a:pPr>
            <a:r>
              <a:rPr lang="en-IN" sz="2200" dirty="0" err="1">
                <a:latin typeface="Aparajita" panose="02020603050405020304" pitchFamily="18" charset="0"/>
                <a:cs typeface="Aparajita" panose="02020603050405020304" pitchFamily="18" charset="0"/>
              </a:rPr>
              <a:t>Fontawesome</a:t>
            </a:r>
            <a:endParaRPr lang="en-IN" sz="2200" dirty="0">
              <a:latin typeface="Aparajita" panose="02020603050405020304" pitchFamily="18" charset="0"/>
              <a:cs typeface="Aparajita" panose="02020603050405020304" pitchFamily="18" charset="0"/>
            </a:endParaRPr>
          </a:p>
          <a:p>
            <a:pPr lvl="1">
              <a:lnSpc>
                <a:spcPct val="150000"/>
              </a:lnSpc>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IN" sz="2400" dirty="0">
                <a:latin typeface="Times New Roman" panose="02020603050405020304" pitchFamily="18" charset="0"/>
                <a:cs typeface="Times New Roman" panose="02020603050405020304" pitchFamily="18" charset="0"/>
              </a:rPr>
              <a:t>Logic &amp; Functionality (Client Side)</a:t>
            </a:r>
          </a:p>
          <a:p>
            <a:pPr marL="457200" indent="-457200">
              <a:buFont typeface="+mj-lt"/>
              <a:buAutoNum type="arabicPeriod"/>
            </a:pPr>
            <a:endParaRPr lang="en-IN" sz="2400" dirty="0">
              <a:latin typeface="Aparajita" panose="02020603050405020304" pitchFamily="18" charset="0"/>
              <a:cs typeface="Aparajita" panose="02020603050405020304" pitchFamily="18" charset="0"/>
            </a:endParaRPr>
          </a:p>
          <a:p>
            <a:pPr lvl="1">
              <a:lnSpc>
                <a:spcPct val="160000"/>
              </a:lnSpc>
              <a:buFont typeface="Wingdings" panose="05000000000000000000" pitchFamily="2" charset="2"/>
              <a:buChar char="Ø"/>
            </a:pPr>
            <a:r>
              <a:rPr lang="en-IN" sz="2200" dirty="0">
                <a:latin typeface="Aparajita" panose="02020603050405020304" pitchFamily="18" charset="0"/>
                <a:cs typeface="Aparajita" panose="02020603050405020304" pitchFamily="18" charset="0"/>
              </a:rPr>
              <a:t>Vanilla </a:t>
            </a:r>
            <a:r>
              <a:rPr lang="en-IN" sz="2200" dirty="0" err="1">
                <a:latin typeface="Aparajita" panose="02020603050405020304" pitchFamily="18" charset="0"/>
                <a:cs typeface="Aparajita" panose="02020603050405020304" pitchFamily="18" charset="0"/>
              </a:rPr>
              <a:t>Javascript</a:t>
            </a:r>
            <a:r>
              <a:rPr lang="en-IN" sz="2200" dirty="0">
                <a:latin typeface="Aparajita" panose="02020603050405020304" pitchFamily="18" charset="0"/>
                <a:cs typeface="Aparajita" panose="02020603050405020304" pitchFamily="18" charset="0"/>
              </a:rPr>
              <a:t> (ES6+)</a:t>
            </a:r>
          </a:p>
          <a:p>
            <a:pPr lvl="1">
              <a:lnSpc>
                <a:spcPct val="160000"/>
              </a:lnSpc>
              <a:buFont typeface="Wingdings" panose="05000000000000000000" pitchFamily="2" charset="2"/>
              <a:buChar char="Ø"/>
            </a:pPr>
            <a:r>
              <a:rPr lang="en-IN" sz="2200" dirty="0">
                <a:latin typeface="Aparajita" panose="02020603050405020304" pitchFamily="18" charset="0"/>
                <a:cs typeface="Aparajita" panose="02020603050405020304" pitchFamily="18" charset="0"/>
              </a:rPr>
              <a:t>Custom </a:t>
            </a:r>
            <a:r>
              <a:rPr lang="en-IN" sz="2200" dirty="0" err="1">
                <a:latin typeface="Aparajita" panose="02020603050405020304" pitchFamily="18" charset="0"/>
                <a:cs typeface="Aparajita" panose="02020603050405020304" pitchFamily="18" charset="0"/>
              </a:rPr>
              <a:t>modulesSimulated</a:t>
            </a:r>
            <a:r>
              <a:rPr lang="en-IN" sz="2200" dirty="0">
                <a:latin typeface="Aparajita" panose="02020603050405020304" pitchFamily="18" charset="0"/>
                <a:cs typeface="Aparajita" panose="02020603050405020304" pitchFamily="18" charset="0"/>
              </a:rPr>
              <a:t> backend</a:t>
            </a:r>
            <a:endParaRPr lang="en-IN" sz="22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6</a:t>
            </a:fld>
            <a:endParaRPr lang="en-US" dirty="0"/>
          </a:p>
        </p:txBody>
      </p:sp>
      <p:pic>
        <p:nvPicPr>
          <p:cNvPr id="2" name="Picture 1">
            <a:extLst>
              <a:ext uri="{FF2B5EF4-FFF2-40B4-BE49-F238E27FC236}">
                <a16:creationId xmlns:a16="http://schemas.microsoft.com/office/drawing/2014/main" id="{97A8DC07-1CCD-F4EA-995C-A952556491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791" y="110173"/>
            <a:ext cx="741512" cy="776377"/>
          </a:xfrm>
          <a:prstGeom prst="rect">
            <a:avLst/>
          </a:prstGeom>
        </p:spPr>
      </p:pic>
      <p:pic>
        <p:nvPicPr>
          <p:cNvPr id="4" name="Picture 3">
            <a:extLst>
              <a:ext uri="{FF2B5EF4-FFF2-40B4-BE49-F238E27FC236}">
                <a16:creationId xmlns:a16="http://schemas.microsoft.com/office/drawing/2014/main" id="{71A88A2D-46A0-E6BF-46C9-BBE1915F20A7}"/>
              </a:ext>
            </a:extLst>
          </p:cNvPr>
          <p:cNvPicPr>
            <a:picLocks noChangeAspect="1"/>
          </p:cNvPicPr>
          <p:nvPr/>
        </p:nvPicPr>
        <p:blipFill>
          <a:blip r:embed="rId4"/>
          <a:stretch>
            <a:fillRect/>
          </a:stretch>
        </p:blipFill>
        <p:spPr>
          <a:xfrm>
            <a:off x="9494428" y="120739"/>
            <a:ext cx="2524125" cy="485775"/>
          </a:xfrm>
          <a:prstGeom prst="rect">
            <a:avLst/>
          </a:prstGeom>
        </p:spPr>
      </p:pic>
      <p:sp>
        <p:nvSpPr>
          <p:cNvPr id="5" name="Content Placeholder 7">
            <a:extLst>
              <a:ext uri="{FF2B5EF4-FFF2-40B4-BE49-F238E27FC236}">
                <a16:creationId xmlns:a16="http://schemas.microsoft.com/office/drawing/2014/main" id="{CE258220-16FE-04B8-8D13-4988C6D3B9E3}"/>
              </a:ext>
            </a:extLst>
          </p:cNvPr>
          <p:cNvSpPr txBox="1">
            <a:spLocks/>
          </p:cNvSpPr>
          <p:nvPr/>
        </p:nvSpPr>
        <p:spPr>
          <a:xfrm>
            <a:off x="7069394" y="1721534"/>
            <a:ext cx="3687096" cy="5064889"/>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Arial" panose="020B0604020202020204" pitchFamily="34" charset="0"/>
              <a:buAutoNum type="arabicPeriod" startAt="3"/>
            </a:pPr>
            <a:r>
              <a:rPr lang="en-IN" sz="8800" dirty="0">
                <a:latin typeface="Times New Roman" panose="02020603050405020304" pitchFamily="18" charset="0"/>
                <a:cs typeface="Times New Roman" panose="02020603050405020304" pitchFamily="18" charset="0"/>
              </a:rPr>
              <a:t>Data &amp; Storage</a:t>
            </a:r>
          </a:p>
          <a:p>
            <a:pPr marL="514350" indent="-514350">
              <a:buFont typeface="Arial" panose="020B0604020202020204" pitchFamily="34" charset="0"/>
              <a:buAutoNum type="arabicPeriod" startAt="3"/>
            </a:pPr>
            <a:endParaRPr lang="en-IN" sz="8800" dirty="0">
              <a:latin typeface="Times New Roman" panose="02020603050405020304" pitchFamily="18" charset="0"/>
              <a:cs typeface="Times New Roman" panose="02020603050405020304" pitchFamily="18" charset="0"/>
            </a:endParaRPr>
          </a:p>
          <a:p>
            <a:pPr marL="457200" indent="-457200">
              <a:buFont typeface="+mj-lt"/>
              <a:buAutoNum type="arabicPeriod"/>
            </a:pPr>
            <a:endParaRPr lang="en-IN" sz="24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IN" sz="8000" dirty="0">
                <a:latin typeface="Aparajita" panose="02020603050405020304" pitchFamily="18" charset="0"/>
                <a:cs typeface="Aparajita" panose="02020603050405020304" pitchFamily="18" charset="0"/>
              </a:rPr>
              <a:t>Web storage API:  </a:t>
            </a:r>
          </a:p>
          <a:p>
            <a:pPr lvl="2">
              <a:lnSpc>
                <a:spcPct val="150000"/>
              </a:lnSpc>
            </a:pPr>
            <a:r>
              <a:rPr lang="en-IN" sz="8000" dirty="0" err="1">
                <a:latin typeface="Aparajita" panose="02020603050405020304" pitchFamily="18" charset="0"/>
                <a:cs typeface="Aparajita" panose="02020603050405020304" pitchFamily="18" charset="0"/>
              </a:rPr>
              <a:t>LocalStorage</a:t>
            </a:r>
            <a:endParaRPr lang="en-IN" sz="8000" dirty="0">
              <a:latin typeface="Aparajita" panose="02020603050405020304" pitchFamily="18" charset="0"/>
              <a:cs typeface="Aparajita" panose="02020603050405020304" pitchFamily="18" charset="0"/>
            </a:endParaRPr>
          </a:p>
          <a:p>
            <a:pPr lvl="2">
              <a:lnSpc>
                <a:spcPct val="150000"/>
              </a:lnSpc>
            </a:pPr>
            <a:r>
              <a:rPr lang="en-IN" sz="8000" dirty="0" err="1">
                <a:latin typeface="Aparajita" panose="02020603050405020304" pitchFamily="18" charset="0"/>
                <a:cs typeface="Aparajita" panose="02020603050405020304" pitchFamily="18" charset="0"/>
              </a:rPr>
              <a:t>SessionStorage</a:t>
            </a:r>
            <a:endParaRPr lang="en-IN" sz="8000" dirty="0">
              <a:latin typeface="Aparajita" panose="02020603050405020304" pitchFamily="18" charset="0"/>
              <a:cs typeface="Aparajita" panose="02020603050405020304" pitchFamily="18" charset="0"/>
            </a:endParaRPr>
          </a:p>
          <a:p>
            <a:pPr lvl="2">
              <a:lnSpc>
                <a:spcPct val="150000"/>
              </a:lnSpc>
            </a:pPr>
            <a:endParaRPr lang="en-IN" sz="2200" dirty="0">
              <a:latin typeface="Aparajita" panose="02020603050405020304" pitchFamily="18" charset="0"/>
              <a:cs typeface="Aparajita" panose="02020603050405020304" pitchFamily="18" charset="0"/>
            </a:endParaRPr>
          </a:p>
          <a:p>
            <a:pPr lvl="2">
              <a:lnSpc>
                <a:spcPct val="150000"/>
              </a:lnSpc>
            </a:pPr>
            <a:endParaRPr lang="en-IN" sz="2200" dirty="0">
              <a:latin typeface="Aparajita" panose="02020603050405020304" pitchFamily="18" charset="0"/>
              <a:cs typeface="Aparajita" panose="02020603050405020304" pitchFamily="18" charset="0"/>
            </a:endParaRPr>
          </a:p>
          <a:p>
            <a:pPr lvl="2">
              <a:lnSpc>
                <a:spcPct val="150000"/>
              </a:lnSpc>
            </a:pPr>
            <a:endParaRPr lang="en-IN" sz="2200" dirty="0">
              <a:latin typeface="Aparajita" panose="02020603050405020304" pitchFamily="18" charset="0"/>
              <a:cs typeface="Aparajita" panose="02020603050405020304" pitchFamily="18" charset="0"/>
            </a:endParaRPr>
          </a:p>
          <a:p>
            <a:pPr lvl="2">
              <a:lnSpc>
                <a:spcPct val="150000"/>
              </a:lnSpc>
            </a:pPr>
            <a:endParaRPr lang="en-IN" sz="2200" dirty="0">
              <a:latin typeface="Aparajita" panose="02020603050405020304" pitchFamily="18" charset="0"/>
              <a:cs typeface="Aparajita" panose="02020603050405020304" pitchFamily="18" charset="0"/>
            </a:endParaRPr>
          </a:p>
          <a:p>
            <a:pPr lvl="2">
              <a:lnSpc>
                <a:spcPct val="150000"/>
              </a:lnSpc>
            </a:pPr>
            <a:endParaRPr lang="en-IN" sz="2200" dirty="0">
              <a:latin typeface="Aparajita" panose="02020603050405020304" pitchFamily="18" charset="0"/>
              <a:cs typeface="Aparajita" panose="02020603050405020304" pitchFamily="18" charset="0"/>
            </a:endParaRPr>
          </a:p>
          <a:p>
            <a:pPr lvl="2">
              <a:lnSpc>
                <a:spcPct val="150000"/>
              </a:lnSpc>
            </a:pPr>
            <a:endParaRPr lang="en-IN" sz="2200" dirty="0">
              <a:latin typeface="Aparajita" panose="02020603050405020304" pitchFamily="18" charset="0"/>
              <a:cs typeface="Aparajita" panose="02020603050405020304" pitchFamily="18" charset="0"/>
            </a:endParaRPr>
          </a:p>
          <a:p>
            <a:pPr marL="457200" indent="-457200">
              <a:buFont typeface="Arial" panose="020B0604020202020204" pitchFamily="34" charset="0"/>
              <a:buAutoNum type="arabicPeriod" startAt="4"/>
            </a:pPr>
            <a:r>
              <a:rPr lang="en-IN" sz="8800" dirty="0">
                <a:latin typeface="Times New Roman" panose="02020603050405020304" pitchFamily="18" charset="0"/>
                <a:cs typeface="Times New Roman" panose="02020603050405020304" pitchFamily="18" charset="0"/>
              </a:rPr>
              <a:t>Integration &amp; Utilities</a:t>
            </a:r>
          </a:p>
          <a:p>
            <a:pPr marL="457200" indent="-457200">
              <a:buFont typeface="Arial" panose="020B0604020202020204" pitchFamily="34" charset="0"/>
              <a:buAutoNum type="arabicPeriod" startAt="4"/>
            </a:pPr>
            <a:endParaRPr lang="en-IN" sz="8800" dirty="0">
              <a:latin typeface="Times New Roman" panose="02020603050405020304" pitchFamily="18" charset="0"/>
              <a:cs typeface="Times New Roman" panose="02020603050405020304" pitchFamily="18" charset="0"/>
            </a:endParaRPr>
          </a:p>
          <a:p>
            <a:pPr lvl="1">
              <a:lnSpc>
                <a:spcPct val="170000"/>
              </a:lnSpc>
              <a:buFont typeface="Wingdings" panose="05000000000000000000" pitchFamily="2" charset="2"/>
              <a:buChar char="Ø"/>
            </a:pPr>
            <a:r>
              <a:rPr lang="en-IN" sz="8000" dirty="0">
                <a:latin typeface="Aparajita" panose="02020603050405020304" pitchFamily="18" charset="0"/>
                <a:cs typeface="Aparajita" panose="02020603050405020304" pitchFamily="18" charset="0"/>
              </a:rPr>
              <a:t>Ui-avatars API</a:t>
            </a:r>
          </a:p>
          <a:p>
            <a:pPr lvl="1">
              <a:lnSpc>
                <a:spcPct val="170000"/>
              </a:lnSpc>
              <a:buFont typeface="Wingdings" panose="05000000000000000000" pitchFamily="2" charset="2"/>
              <a:buChar char="Ø"/>
            </a:pPr>
            <a:r>
              <a:rPr lang="en-IN" sz="8000" dirty="0">
                <a:latin typeface="Aparajita" panose="02020603050405020304" pitchFamily="18" charset="0"/>
                <a:cs typeface="Aparajita" panose="02020603050405020304" pitchFamily="18" charset="0"/>
              </a:rPr>
              <a:t>Aos library</a:t>
            </a:r>
          </a:p>
          <a:p>
            <a:pPr marL="457200" indent="-457200">
              <a:buFont typeface="+mj-lt"/>
              <a:buAutoNum type="arabicPeriod"/>
            </a:pPr>
            <a:endParaRPr lang="en-IN" dirty="0">
              <a:latin typeface="Aparajita" panose="02020603050405020304" pitchFamily="18" charset="0"/>
              <a:cs typeface="Aparajita" panose="02020603050405020304" pitchFamily="18" charset="0"/>
            </a:endParaRPr>
          </a:p>
        </p:txBody>
      </p:sp>
    </p:spTree>
    <p:extLst>
      <p:ext uri="{BB962C8B-B14F-4D97-AF65-F5344CB8AC3E}">
        <p14:creationId xmlns:p14="http://schemas.microsoft.com/office/powerpoint/2010/main" val="1966913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49404F1-8E94-7D3D-71E2-A1A4B7CBCB4A}"/>
              </a:ext>
            </a:extLst>
          </p:cNvPr>
          <p:cNvSpPr>
            <a:spLocks noGrp="1"/>
          </p:cNvSpPr>
          <p:nvPr>
            <p:ph type="title"/>
          </p:nvPr>
        </p:nvSpPr>
        <p:spPr>
          <a:xfrm>
            <a:off x="707923" y="886550"/>
            <a:ext cx="10360152" cy="914400"/>
          </a:xfrm>
        </p:spPr>
        <p:txBody>
          <a:bodyPr/>
          <a:lstStyle/>
          <a:p>
            <a:pPr algn="ctr"/>
            <a:r>
              <a:rPr lang="en-US" sz="6000" dirty="0">
                <a:latin typeface="Algerian" panose="04020705040A02060702" pitchFamily="82" charset="0"/>
              </a:rPr>
              <a:t>Future scope</a:t>
            </a:r>
            <a:endParaRPr lang="en-US" sz="6000" dirty="0"/>
          </a:p>
        </p:txBody>
      </p:sp>
      <p:sp>
        <p:nvSpPr>
          <p:cNvPr id="14" name="Content Placeholder 13">
            <a:extLst>
              <a:ext uri="{FF2B5EF4-FFF2-40B4-BE49-F238E27FC236}">
                <a16:creationId xmlns:a16="http://schemas.microsoft.com/office/drawing/2014/main" id="{F4A3718F-D67C-255A-4B64-BA379609FCD0}"/>
              </a:ext>
            </a:extLst>
          </p:cNvPr>
          <p:cNvSpPr>
            <a:spLocks noGrp="1"/>
          </p:cNvSpPr>
          <p:nvPr>
            <p:ph sz="quarter" idx="11"/>
          </p:nvPr>
        </p:nvSpPr>
        <p:spPr>
          <a:xfrm>
            <a:off x="1423190" y="2695809"/>
            <a:ext cx="10057839" cy="3056061"/>
          </a:xfrm>
        </p:spPr>
        <p:txBody>
          <a:bodyPr vert="horz" lIns="91440" tIns="45720" rIns="91440" bIns="45720" rtlCol="0" anchor="t">
            <a:normAutofit fontScale="62500" lnSpcReduction="20000"/>
          </a:bodyPr>
          <a:lstStyle/>
          <a:p>
            <a:pPr marL="457200" indent="-457200">
              <a:lnSpc>
                <a:spcPct val="150000"/>
              </a:lnSpc>
              <a:buFont typeface="+mj-lt"/>
              <a:buAutoNum type="arabicPeriod"/>
            </a:pPr>
            <a:r>
              <a:rPr lang="en-US" sz="3400" dirty="0">
                <a:latin typeface="Aparajita" panose="02020603050405020304" pitchFamily="18" charset="0"/>
                <a:cs typeface="Aparajita" panose="02020603050405020304" pitchFamily="18" charset="0"/>
              </a:rPr>
              <a:t>AI Travel buddy: A smart assistant that suggests trips based on your mood.</a:t>
            </a:r>
            <a:endParaRPr lang="en-US" sz="3400" dirty="0">
              <a:solidFill>
                <a:srgbClr val="171717"/>
              </a:solidFill>
              <a:latin typeface="Aparajita" panose="02020603050405020304" pitchFamily="18" charset="0"/>
              <a:ea typeface="Canva Sans Bold"/>
              <a:cs typeface="Aparajita" panose="02020603050405020304" pitchFamily="18" charset="0"/>
              <a:sym typeface="Canva Sans Bold"/>
            </a:endParaRPr>
          </a:p>
          <a:p>
            <a:pPr marL="457200" indent="-457200">
              <a:lnSpc>
                <a:spcPct val="150000"/>
              </a:lnSpc>
              <a:buFont typeface="+mj-lt"/>
              <a:buAutoNum type="arabicPeriod"/>
            </a:pPr>
            <a:r>
              <a:rPr lang="en-US" sz="3400" dirty="0">
                <a:latin typeface="Aparajita" panose="02020603050405020304" pitchFamily="18" charset="0"/>
                <a:cs typeface="Aparajita" panose="02020603050405020304" pitchFamily="18" charset="0"/>
              </a:rPr>
              <a:t>Virtual reality (VR) tours: Walk through the hotel room using your phone before you book it.</a:t>
            </a:r>
          </a:p>
          <a:p>
            <a:pPr marL="457200" indent="-457200">
              <a:lnSpc>
                <a:spcPct val="150000"/>
              </a:lnSpc>
              <a:buFont typeface="+mj-lt"/>
              <a:buAutoNum type="arabicPeriod"/>
            </a:pPr>
            <a:r>
              <a:rPr lang="en-US" sz="3400" dirty="0">
                <a:latin typeface="Aparajita" panose="02020603050405020304" pitchFamily="18" charset="0"/>
                <a:cs typeface="Aparajita" panose="02020603050405020304" pitchFamily="18" charset="0"/>
              </a:rPr>
              <a:t>Paperless Identity: Use your face or phone to check into hotels no physical Ids needed.</a:t>
            </a:r>
          </a:p>
          <a:p>
            <a:pPr marL="457200" indent="-457200">
              <a:lnSpc>
                <a:spcPct val="150000"/>
              </a:lnSpc>
              <a:buFont typeface="+mj-lt"/>
              <a:buAutoNum type="arabicPeriod"/>
            </a:pPr>
            <a:r>
              <a:rPr lang="en-US" sz="3400" dirty="0">
                <a:latin typeface="Aparajita" panose="02020603050405020304" pitchFamily="18" charset="0"/>
                <a:cs typeface="Aparajita" panose="02020603050405020304" pitchFamily="18" charset="0"/>
              </a:rPr>
              <a:t>Eco-friendly travels: Show green scores to help travelers save the planet while they explore.</a:t>
            </a:r>
            <a:endParaRPr lang="en-US" sz="3400" dirty="0">
              <a:solidFill>
                <a:srgbClr val="171717"/>
              </a:solidFill>
              <a:latin typeface="Aparajita" panose="02020603050405020304" pitchFamily="18" charset="0"/>
              <a:ea typeface="Canva Sans Bold"/>
              <a:cs typeface="Aparajita" panose="02020603050405020304" pitchFamily="18" charset="0"/>
              <a:sym typeface="Canva Sans Bold"/>
            </a:endParaRPr>
          </a:p>
          <a:p>
            <a:pPr marL="457200" indent="-457200">
              <a:lnSpc>
                <a:spcPct val="150000"/>
              </a:lnSpc>
              <a:buFont typeface="+mj-lt"/>
              <a:buAutoNum type="arabicPeriod"/>
            </a:pPr>
            <a:r>
              <a:rPr lang="en-US" sz="3400" dirty="0">
                <a:latin typeface="Aparajita" panose="02020603050405020304" pitchFamily="18" charset="0"/>
                <a:cs typeface="Aparajita" panose="02020603050405020304" pitchFamily="18" charset="0"/>
              </a:rPr>
              <a:t>Global partnership: Working with local guides and hidden cafes to give you experiences nobody else has.</a:t>
            </a:r>
          </a:p>
          <a:p>
            <a:pPr marL="457200" indent="-457200">
              <a:lnSpc>
                <a:spcPct val="150000"/>
              </a:lnSpc>
              <a:buFont typeface="+mj-lt"/>
              <a:buAutoNum type="arabicPeriod"/>
            </a:pPr>
            <a:endParaRPr lang="en-US" sz="3400" dirty="0">
              <a:solidFill>
                <a:srgbClr val="171717"/>
              </a:solidFill>
              <a:latin typeface="Aparajita" panose="02020603050405020304" pitchFamily="18" charset="0"/>
              <a:ea typeface="Canva Sans"/>
              <a:cs typeface="Aparajita" panose="02020603050405020304" pitchFamily="18" charset="0"/>
              <a:sym typeface="Canva Sans"/>
            </a:endParaRPr>
          </a:p>
          <a:p>
            <a:endParaRPr lang="en-US" sz="3400" b="1" dirty="0">
              <a:solidFill>
                <a:srgbClr val="171717"/>
              </a:solidFill>
              <a:latin typeface="Canva Sans Bold"/>
              <a:ea typeface="Canva Sans Bold"/>
              <a:cs typeface="Canva Sans Bold"/>
              <a:sym typeface="Canva Sans Bold"/>
            </a:endParaRPr>
          </a:p>
          <a:p>
            <a:endParaRPr lang="en-US" sz="2400" dirty="0">
              <a:solidFill>
                <a:srgbClr val="000000"/>
              </a:solidFill>
              <a:latin typeface="Canva Sans"/>
              <a:ea typeface="Canva Sans"/>
              <a:cs typeface="Canva Sans"/>
              <a:sym typeface="Canva Sans"/>
            </a:endParaRPr>
          </a:p>
          <a:p>
            <a:endParaRPr lang="en-US" sz="2400" dirty="0">
              <a:solidFill>
                <a:srgbClr val="171717"/>
              </a:solidFill>
              <a:latin typeface="Canva Sans Bold"/>
              <a:ea typeface="Canva Sans Bold"/>
              <a:cs typeface="Canva Sans Bold"/>
              <a:sym typeface="Canva Sans Bold"/>
            </a:endParaRPr>
          </a:p>
          <a:p>
            <a:endParaRPr lang="en-US" sz="2400" dirty="0">
              <a:latin typeface="Times New Roman" panose="02020603050405020304" pitchFamily="18" charset="0"/>
              <a:ea typeface="+mn-lt"/>
              <a:cs typeface="Times New Roman" panose="02020603050405020304" pitchFamily="18" charset="0"/>
            </a:endParaRPr>
          </a:p>
        </p:txBody>
      </p:sp>
      <p:sp>
        <p:nvSpPr>
          <p:cNvPr id="2" name="Slide Number Placeholder 1">
            <a:extLst>
              <a:ext uri="{FF2B5EF4-FFF2-40B4-BE49-F238E27FC236}">
                <a16:creationId xmlns:a16="http://schemas.microsoft.com/office/drawing/2014/main" id="{F35BAC3D-60A1-816B-5C79-2E8B6D9806E9}"/>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7</a:t>
            </a:fld>
            <a:endParaRPr lang="en-US"/>
          </a:p>
        </p:txBody>
      </p:sp>
      <p:pic>
        <p:nvPicPr>
          <p:cNvPr id="3" name="Picture 2">
            <a:extLst>
              <a:ext uri="{FF2B5EF4-FFF2-40B4-BE49-F238E27FC236}">
                <a16:creationId xmlns:a16="http://schemas.microsoft.com/office/drawing/2014/main" id="{7704F2D7-813B-B03E-51BC-49BF142559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791" y="110173"/>
            <a:ext cx="741512" cy="776377"/>
          </a:xfrm>
          <a:prstGeom prst="rect">
            <a:avLst/>
          </a:prstGeom>
        </p:spPr>
      </p:pic>
      <p:pic>
        <p:nvPicPr>
          <p:cNvPr id="4" name="Picture 3">
            <a:extLst>
              <a:ext uri="{FF2B5EF4-FFF2-40B4-BE49-F238E27FC236}">
                <a16:creationId xmlns:a16="http://schemas.microsoft.com/office/drawing/2014/main" id="{337AC498-52F0-7B48-2344-E23FA31DBA69}"/>
              </a:ext>
            </a:extLst>
          </p:cNvPr>
          <p:cNvPicPr>
            <a:picLocks noChangeAspect="1"/>
          </p:cNvPicPr>
          <p:nvPr/>
        </p:nvPicPr>
        <p:blipFill>
          <a:blip r:embed="rId4"/>
          <a:stretch>
            <a:fillRect/>
          </a:stretch>
        </p:blipFill>
        <p:spPr>
          <a:xfrm>
            <a:off x="9494428" y="120739"/>
            <a:ext cx="2524125" cy="485775"/>
          </a:xfrm>
          <a:prstGeom prst="rect">
            <a:avLst/>
          </a:prstGeom>
        </p:spPr>
      </p:pic>
    </p:spTree>
    <p:extLst>
      <p:ext uri="{BB962C8B-B14F-4D97-AF65-F5344CB8AC3E}">
        <p14:creationId xmlns:p14="http://schemas.microsoft.com/office/powerpoint/2010/main" val="4230106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a:xfrm>
            <a:off x="3372464" y="2487562"/>
            <a:ext cx="5641848" cy="1376516"/>
          </a:xfrm>
        </p:spPr>
        <p:txBody>
          <a:bodyPr/>
          <a:lstStyle/>
          <a:p>
            <a:pPr algn="ctr"/>
            <a:r>
              <a:rPr lang="en-US" dirty="0">
                <a:latin typeface="Algerian" panose="04020705040A02060702" pitchFamily="82" charset="0"/>
              </a:rPr>
              <a:t>Thank You!!</a:t>
            </a:r>
          </a:p>
        </p:txBody>
      </p:sp>
      <p:pic>
        <p:nvPicPr>
          <p:cNvPr id="2" name="Picture 1">
            <a:extLst>
              <a:ext uri="{FF2B5EF4-FFF2-40B4-BE49-F238E27FC236}">
                <a16:creationId xmlns:a16="http://schemas.microsoft.com/office/drawing/2014/main" id="{2E1ED781-5390-FBAF-42AB-7DA9CBC9C4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791" y="110173"/>
            <a:ext cx="741512" cy="776377"/>
          </a:xfrm>
          <a:prstGeom prst="rect">
            <a:avLst/>
          </a:prstGeom>
        </p:spPr>
      </p:pic>
      <p:pic>
        <p:nvPicPr>
          <p:cNvPr id="3" name="Picture 2">
            <a:extLst>
              <a:ext uri="{FF2B5EF4-FFF2-40B4-BE49-F238E27FC236}">
                <a16:creationId xmlns:a16="http://schemas.microsoft.com/office/drawing/2014/main" id="{056E4329-D548-A69C-0F61-A6686E38CDF1}"/>
              </a:ext>
            </a:extLst>
          </p:cNvPr>
          <p:cNvPicPr>
            <a:picLocks noChangeAspect="1"/>
          </p:cNvPicPr>
          <p:nvPr/>
        </p:nvPicPr>
        <p:blipFill>
          <a:blip r:embed="rId4"/>
          <a:stretch>
            <a:fillRect/>
          </a:stretch>
        </p:blipFill>
        <p:spPr>
          <a:xfrm>
            <a:off x="9494428" y="120739"/>
            <a:ext cx="2524125" cy="485775"/>
          </a:xfrm>
          <a:prstGeom prst="rect">
            <a:avLst/>
          </a:prstGeom>
        </p:spPr>
      </p:pic>
    </p:spTree>
    <p:extLst>
      <p:ext uri="{BB962C8B-B14F-4D97-AF65-F5344CB8AC3E}">
        <p14:creationId xmlns:p14="http://schemas.microsoft.com/office/powerpoint/2010/main" val="1007067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5DF9CEC-52C2-4D14-B2F5-11176002A8B6}">
  <ds:schemaRefs>
    <ds:schemaRef ds:uri="http://purl.org/dc/elements/1.1/"/>
    <ds:schemaRef ds:uri="http://schemas.microsoft.com/office/infopath/2007/PartnerControls"/>
    <ds:schemaRef ds:uri="http://schemas.microsoft.com/office/2006/documentManagement/types"/>
    <ds:schemaRef ds:uri="http://www.w3.org/XML/1998/namespace"/>
    <ds:schemaRef ds:uri="230e9df3-be65-4c73-a93b-d1236ebd677e"/>
    <ds:schemaRef ds:uri="http://schemas.openxmlformats.org/package/2006/metadata/core-properties"/>
    <ds:schemaRef ds:uri="http://purl.org/dc/terms/"/>
    <ds:schemaRef ds:uri="16c05727-aa75-4e4a-9b5f-8a80a1165891"/>
    <ds:schemaRef ds:uri="http://purl.org/dc/dcmitype/"/>
    <ds:schemaRef ds:uri="71af3243-3dd4-4a8d-8c0d-dd76da1f02a5"/>
    <ds:schemaRef ds:uri="http://schemas.microsoft.com/sharepoint/v3"/>
    <ds:schemaRef ds:uri="http://schemas.microsoft.com/office/2006/metadata/properties"/>
  </ds:schemaRefs>
</ds:datastoreItem>
</file>

<file path=customXml/itemProps3.xml><?xml version="1.0" encoding="utf-8"?>
<ds:datastoreItem xmlns:ds="http://schemas.openxmlformats.org/officeDocument/2006/customXml" ds:itemID="{1249AD37-9510-4A2D-B790-12C439A83F93}">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{63A649D3-78C5-41C2-A6BB-DBE7DE4ADA5A}TF1ed9553b-00c4-4092-846a-c8f7f2908f3beecd942f_win32-8e33096c3cfc</Template>
  <TotalTime>335</TotalTime>
  <Words>471</Words>
  <Application>Microsoft Office PowerPoint</Application>
  <PresentationFormat>Widescreen</PresentationFormat>
  <Paragraphs>100</Paragraphs>
  <Slides>8</Slides>
  <Notes>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8</vt:i4>
      </vt:variant>
    </vt:vector>
  </HeadingPairs>
  <TitlesOfParts>
    <vt:vector size="20" baseType="lpstr">
      <vt:lpstr>Algerian</vt:lpstr>
      <vt:lpstr>Aparajita</vt:lpstr>
      <vt:lpstr>Arial</vt:lpstr>
      <vt:lpstr>Calibri</vt:lpstr>
      <vt:lpstr>Canva Sans</vt:lpstr>
      <vt:lpstr>Canva Sans Bold</vt:lpstr>
      <vt:lpstr>Courier New</vt:lpstr>
      <vt:lpstr>Gill Sans Nova Light</vt:lpstr>
      <vt:lpstr>Sagona Book</vt:lpstr>
      <vt:lpstr>Times New Roman</vt:lpstr>
      <vt:lpstr>Wingdings</vt:lpstr>
      <vt:lpstr>Custom</vt:lpstr>
      <vt:lpstr>Tours and travels website</vt:lpstr>
      <vt:lpstr>TEAM MEMBERS</vt:lpstr>
      <vt:lpstr>INTRODUCTION</vt:lpstr>
      <vt:lpstr>Functionalities </vt:lpstr>
      <vt:lpstr>PowerPoint Presentation</vt:lpstr>
      <vt:lpstr>TECH STACK OVERVIEW :</vt:lpstr>
      <vt:lpstr>Future scope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 RUDANI</dc:creator>
  <cp:lastModifiedBy>JAY RUDANI</cp:lastModifiedBy>
  <cp:revision>31</cp:revision>
  <dcterms:created xsi:type="dcterms:W3CDTF">2026-02-10T11:23:38Z</dcterms:created>
  <dcterms:modified xsi:type="dcterms:W3CDTF">2026-02-18T16:20:37Z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